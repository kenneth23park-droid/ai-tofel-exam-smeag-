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0B6E5F"/>
                </a:solidFill>
                <a:latin typeface="Menlo"/>
              </a:rPr>
              <a:t>SMEAG STUDYGROUND · 데이터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9692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101715"/>
                </a:solidFill>
                <a:latin typeface="Apple SD Gothic Neo"/>
              </a:rPr>
              <a:t>인터넷이 없는 교실에서</a:t>
            </a:r>
          </a:p>
          <a:p>
            <a:pPr algn="l">
              <a:lnSpc>
                <a:spcPct val="115000"/>
              </a:lnSpc>
            </a:pPr>
            <a:r>
              <a:rPr sz="4200" b="1">
                <a:solidFill>
                  <a:srgbClr val="101715"/>
                </a:solidFill>
                <a:latin typeface="Apple SD Gothic Neo"/>
              </a:rPr>
              <a:t>답안을 잃지 않는 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05840" y="4251960"/>
            <a:ext cx="2834640" cy="0"/>
          </a:xfrm>
          <a:prstGeom prst="line">
            <a:avLst/>
          </a:prstGeom>
          <a:ln w="31750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05840" y="4526280"/>
            <a:ext cx="7863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4E5A57"/>
                </a:solidFill>
                <a:latin typeface="Apple SD Gothic Neo"/>
              </a:rPr>
              <a:t>시험은 완전 오프라인에서 치른다. 답안은 학생 PC의 로컬 DB에 정본으로 남고,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4E5A57"/>
                </a:solidFill>
                <a:latin typeface="Apple SD Gothic Neo"/>
              </a:rPr>
              <a:t>인터넷이 돌아오는 순간 Supabase로 자동 개통된다.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4E5A57"/>
                </a:solidFill>
                <a:latin typeface="Apple SD Gothic Neo"/>
              </a:rPr>
              <a:t>선생님과 관리자는 “누가 어디까지 올라왔는지”를 화면에서 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9893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8837F"/>
                </a:solidFill>
                <a:latin typeface="Menlo"/>
              </a:rPr>
              <a:t>현재 코드베이스 실측 기준 — exam-sync.js · exam-store.js · app/js/sync.js · supabase/schema.sql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세 가지 원칙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342900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A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21284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60">
                <a:solidFill>
                  <a:srgbClr val="0B6E5F"/>
                </a:solidFill>
                <a:latin typeface="Menlo"/>
              </a:rPr>
              <a:t>원칙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578608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01715"/>
                </a:solidFill>
                <a:latin typeface="Apple SD Gothic Neo"/>
              </a:rPr>
              <a:t>네트워크는 절대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01715"/>
                </a:solidFill>
                <a:latin typeface="Apple SD Gothic Neo"/>
              </a:rPr>
              <a:t>시험을 멈추지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657600"/>
            <a:ext cx="2880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모든 쓰기는 로컬에 먼저 기록되고,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업로드는 그 뒤에 따라붙는 별개의 일이다.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업로드 실패는 시험 화면에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어떤 영향도 주지 않는다.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920240"/>
            <a:ext cx="342900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A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221284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60">
                <a:solidFill>
                  <a:srgbClr val="0B6E5F"/>
                </a:solidFill>
                <a:latin typeface="Menlo"/>
              </a:rPr>
              <a:t>원칙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578608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01715"/>
                </a:solidFill>
                <a:latin typeface="Apple SD Gothic Neo"/>
              </a:rPr>
              <a:t>답안의 정본은 로컬이다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01715"/>
                </a:solidFill>
                <a:latin typeface="Apple SD Gothic Neo"/>
              </a:rPr>
              <a:t>— 동기화될 때까지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3657600"/>
            <a:ext cx="2880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Supabase에 synced 로 확인받기 전에는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로컬 데이터를 지우지 않는다.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캐시 삭제·앱 재설치로 날아가지 않도록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영구 저장소로 승격한다.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920240"/>
            <a:ext cx="342900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DA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3" y="221284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60">
                <a:solidFill>
                  <a:srgbClr val="0B6E5F"/>
                </a:solidFill>
                <a:latin typeface="Menlo"/>
              </a:rPr>
              <a:t>원칙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3" y="2578608"/>
            <a:ext cx="2880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01715"/>
                </a:solidFill>
                <a:latin typeface="Apple SD Gothic Neo"/>
              </a:rPr>
              <a:t>같은 것을 두 번 보내도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101715"/>
                </a:solidFill>
                <a:latin typeface="Apple SD Gothic Neo"/>
              </a:rPr>
              <a:t>안전해야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3657600"/>
            <a:ext cx="2880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ID를 단말에서 UUID로 만들고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서버는 전부 upsert 한다.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재시도·중복 전송·순서 역전이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데이터를 깨뜨리지 못한다.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이 셋은 트레이드오프가 아니라 전제다. 어느 하나가 깨지면 나머지 설계가 의미를 잃는다.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데이터가 지나가는 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답안 한 건은 네 개의 보관소를 지난다. 각 구간은 앞 구간이 확인을 돌려줄 때까지 자기 사본을 버리지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2996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① 응시 단말 · 오프라인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31720"/>
            <a:ext cx="2606040" cy="251460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2496312"/>
            <a:ext cx="22402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01715"/>
                </a:solidFill>
                <a:latin typeface="Apple SD Gothic Neo"/>
              </a:rPr>
              <a:t>학생 PC · PWA (×30)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834639"/>
            <a:ext cx="2240280" cy="566928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IndexedDB — 답안 · 녹음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8837F"/>
                </a:solidFill>
                <a:latin typeface="Apple SD Gothic Neo"/>
              </a:rPr>
              <a:t>문항 저장 즉시 기록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93008"/>
            <a:ext cx="2240280" cy="566928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Outbox 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8837F"/>
                </a:solidFill>
                <a:latin typeface="Apple SD Gothic Neo"/>
              </a:rPr>
              <a:t>보낼 것만 순번(seq)으로 적재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51376"/>
            <a:ext cx="2240280" cy="530352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D2DAD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로컬 자동채점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8837F"/>
                </a:solidFill>
                <a:latin typeface="Apple SD Gothic Neo"/>
              </a:rPr>
              <a:t>R/L/문장배열 → 잠정 점수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91840" y="3566160"/>
            <a:ext cx="411480" cy="0"/>
          </a:xfrm>
          <a:prstGeom prst="line">
            <a:avLst/>
          </a:prstGeom>
          <a:ln w="15875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03320" y="202996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② 교실 허브 · 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2331720"/>
            <a:ext cx="2606040" cy="251460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86200" y="2496312"/>
            <a:ext cx="22402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01715"/>
                </a:solidFill>
                <a:latin typeface="Apple SD Gothic Neo"/>
              </a:rPr>
              <a:t>선생님 노트북 1대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86200" y="2834639"/>
            <a:ext cx="2240280" cy="566928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SQLite — 교실 정본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8837F"/>
                </a:solidFill>
                <a:latin typeface="Apple SD Gothic Neo"/>
              </a:rPr>
              <a:t>단말이 죽어도 답안은 생존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493008"/>
            <a:ext cx="2240280" cy="566928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허브 Outbox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8837F"/>
                </a:solidFill>
                <a:latin typeface="Apple SD Gothic Neo"/>
              </a:rPr>
              <a:t>교실 전체를 한 묶음으로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86200" y="4151376"/>
            <a:ext cx="2240280" cy="530352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D2DAD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진행 현황판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8837F"/>
                </a:solidFill>
                <a:latin typeface="Apple SD Gothic Neo"/>
              </a:rPr>
              <a:t>오프라인에서도 실시간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12280" y="1874519"/>
            <a:ext cx="0" cy="3749041"/>
          </a:xfrm>
          <a:prstGeom prst="line">
            <a:avLst/>
          </a:prstGeom>
          <a:ln w="17780">
            <a:solidFill>
              <a:srgbClr val="7883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989320" y="56692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인터넷 경계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5907024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00" b="0">
                <a:solidFill>
                  <a:srgbClr val="78837F"/>
                </a:solidFill>
                <a:latin typeface="Apple SD Gothic Neo"/>
              </a:rPr>
              <a:t>시험 중 = 끊김 · 시험 후 = 복귀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09360" y="3108960"/>
            <a:ext cx="1005840" cy="0"/>
          </a:xfrm>
          <a:prstGeom prst="line">
            <a:avLst/>
          </a:prstGeom>
          <a:ln w="28575">
            <a:solidFill>
              <a:srgbClr val="0B6E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89320" y="278892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1">
                <a:solidFill>
                  <a:srgbClr val="0B6E5F"/>
                </a:solidFill>
                <a:latin typeface="Apple SD Gothic Neo"/>
              </a:rPr>
              <a:t>복귀 감지 → 자동 업로드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309360" y="3794760"/>
            <a:ext cx="1005840" cy="0"/>
          </a:xfrm>
          <a:prstGeom prst="line">
            <a:avLst/>
          </a:prstGeom>
          <a:ln w="15875">
            <a:solidFill>
              <a:srgbClr val="0B6E5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806440" y="3904487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0B6E5F"/>
                </a:solidFill>
                <a:latin typeface="Apple SD Gothic Neo"/>
              </a:rPr>
              <a:t>수신 확인 → 로컬 해제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02996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③ SUPABASE · 클라우드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0" y="2331720"/>
            <a:ext cx="2606040" cy="251460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98079" y="2496312"/>
            <a:ext cx="22402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01715"/>
                </a:solidFill>
                <a:latin typeface="Apple SD Gothic Neo"/>
              </a:rPr>
              <a:t>Postgres + Storage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79" y="2834639"/>
            <a:ext cx="2240280" cy="713232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01715"/>
                </a:solidFill>
                <a:latin typeface="Apple SD Gothic Neo"/>
              </a:rPr>
              <a:t>toefl_attempts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101715"/>
                </a:solidFill>
                <a:latin typeface="Apple SD Gothic Neo"/>
              </a:rPr>
              <a:t>toefl_answers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101715"/>
                </a:solidFill>
                <a:latin typeface="Apple SD Gothic Neo"/>
              </a:rPr>
              <a:t>toefl_submissions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98079" y="3639311"/>
            <a:ext cx="2240280" cy="50292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Storage — 스피킹 녹음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8837F"/>
                </a:solidFill>
                <a:latin typeface="Apple SD Gothic Neo"/>
              </a:rPr>
              <a:t>webm, 마지막에 올린다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79" y="4233672"/>
            <a:ext cx="2240280" cy="448056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D2DAD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서버 재채점 = 확정 점수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21240" y="3566160"/>
            <a:ext cx="365760" cy="0"/>
          </a:xfrm>
          <a:prstGeom prst="line">
            <a:avLst/>
          </a:prstGeom>
          <a:ln w="15875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287000" y="2029968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④ 열람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87000" y="2331720"/>
            <a:ext cx="1572768" cy="2514600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424160" y="2496312"/>
            <a:ext cx="1325880" cy="25603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01715"/>
                </a:solidFill>
                <a:latin typeface="Apple SD Gothic Neo"/>
              </a:rPr>
              <a:t>대시보드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424160" y="2880360"/>
            <a:ext cx="1325880" cy="53035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01715"/>
                </a:solidFill>
                <a:latin typeface="Apple SD Gothic Neo"/>
              </a:rPr>
              <a:t>선생님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78837F"/>
                </a:solidFill>
                <a:latin typeface="Apple SD Gothic Neo"/>
              </a:rPr>
              <a:t>반 진행률 · 미제출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24160" y="3483864"/>
            <a:ext cx="1325880" cy="53035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01715"/>
                </a:solidFill>
                <a:latin typeface="Apple SD Gothic Neo"/>
              </a:rPr>
              <a:t>관리자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78837F"/>
                </a:solidFill>
                <a:latin typeface="Apple SD Gothic Neo"/>
              </a:rPr>
              <a:t>전체 회차 · 재업로드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24160" y="4087368"/>
            <a:ext cx="1325880" cy="53035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01715"/>
                </a:solidFill>
                <a:latin typeface="Apple SD Gothic Neo"/>
              </a:rPr>
              <a:t>학생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78837F"/>
                </a:solidFill>
                <a:latin typeface="Apple SD Gothic Neo"/>
              </a:rPr>
              <a:t>본인 성적 · 오답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① · ② 는 인터넷 없이 동작한다 — 시험은 여기서 끝난다. 굵은 초록 화살표가 유일하게 인터넷을 필요로 하는 구간이다.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교실 허브를 둘 것인가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기능은 같다. 갈리는 것은 단말이 고장 났을 때 — 답안 사본이 몇 벌 존재하는가다.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A안 · 단말 직접 업로드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77440"/>
            <a:ext cx="1463040" cy="41148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학생 PC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44368"/>
            <a:ext cx="1463040" cy="41148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학생 PC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39896"/>
            <a:ext cx="1463040" cy="41148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학생 PC 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4747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78837F"/>
                </a:solidFill>
                <a:latin typeface="Apple SD Gothic Neo"/>
              </a:rPr>
              <a:t>⋮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48840" y="2578608"/>
            <a:ext cx="1463040" cy="850392"/>
          </a:xfrm>
          <a:prstGeom prst="line">
            <a:avLst/>
          </a:prstGeom>
          <a:ln w="11430">
            <a:solidFill>
              <a:srgbClr val="4E5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48840" y="3145536"/>
            <a:ext cx="1463040" cy="283464"/>
          </a:xfrm>
          <a:prstGeom prst="line">
            <a:avLst/>
          </a:prstGeom>
          <a:ln w="11430">
            <a:solidFill>
              <a:srgbClr val="4E5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148840" y="3429000"/>
            <a:ext cx="1463040" cy="512063"/>
          </a:xfrm>
          <a:prstGeom prst="line">
            <a:avLst/>
          </a:prstGeom>
          <a:ln w="11430">
            <a:solidFill>
              <a:srgbClr val="4E5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65960" y="416052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4E5A57"/>
                </a:solidFill>
                <a:latin typeface="Apple SD Gothic Neo"/>
              </a:rPr>
              <a:t>업로드 경로 30개</a:t>
            </a:r>
          </a:p>
          <a:p>
            <a:pPr algn="ctr">
              <a:lnSpc>
                <a:spcPct val="135000"/>
              </a:lnSpc>
            </a:pPr>
            <a:r>
              <a:rPr sz="950" b="0">
                <a:solidFill>
                  <a:srgbClr val="4E5A57"/>
                </a:solidFill>
                <a:latin typeface="Apple SD Gothic Neo"/>
              </a:rPr>
              <a:t>각자 재시도 · 각자 실패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1880" y="3200400"/>
            <a:ext cx="1417320" cy="502920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 w="1270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Supabase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892040"/>
            <a:ext cx="4343400" cy="822960"/>
          </a:xfrm>
          <a:prstGeom prst="roundRect">
            <a:avLst>
              <a:gd name="adj" fmla="val 8000"/>
            </a:avLst>
          </a:prstGeom>
          <a:solidFill>
            <a:srgbClr val="F5E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A32E28"/>
                </a:solidFill>
                <a:latin typeface="Apple SD Gothic Neo"/>
              </a:rPr>
              <a:t>학생 PC 3이 시험 후 초기화되면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A32E28"/>
                </a:solidFill>
                <a:latin typeface="Apple SD Gothic Neo"/>
              </a:rPr>
              <a:t>→ 그 학생 답안은 어디에도 없다. 복구 불가.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23560" y="2011680"/>
            <a:ext cx="0" cy="3840480"/>
          </a:xfrm>
          <a:prstGeom prst="line">
            <a:avLst/>
          </a:prstGeom>
          <a:ln w="12700">
            <a:solidFill>
              <a:srgbClr val="D2DA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63640" y="20574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0B6E5F"/>
                </a:solidFill>
                <a:latin typeface="Menlo"/>
              </a:rPr>
              <a:t>B안 · 교실 허브 경유 (권장)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377440"/>
            <a:ext cx="1463040" cy="41148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학생 PC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944368"/>
            <a:ext cx="1463040" cy="41148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학생 PC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39896"/>
            <a:ext cx="1463040" cy="41148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01715"/>
                </a:solidFill>
                <a:latin typeface="Apple SD Gothic Neo"/>
              </a:rPr>
              <a:t>학생 PC 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78837F"/>
                </a:solidFill>
                <a:latin typeface="Apple SD Gothic Neo"/>
              </a:rPr>
              <a:t>⋮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26679" y="2578608"/>
            <a:ext cx="960121" cy="822960"/>
          </a:xfrm>
          <a:prstGeom prst="line">
            <a:avLst/>
          </a:prstGeom>
          <a:ln w="11430">
            <a:solidFill>
              <a:srgbClr val="4E5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726679" y="3145536"/>
            <a:ext cx="960121" cy="256032"/>
          </a:xfrm>
          <a:prstGeom prst="line">
            <a:avLst/>
          </a:prstGeom>
          <a:ln w="11430">
            <a:solidFill>
              <a:srgbClr val="4E5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726679" y="3401568"/>
            <a:ext cx="960121" cy="539495"/>
          </a:xfrm>
          <a:prstGeom prst="line">
            <a:avLst/>
          </a:prstGeom>
          <a:ln w="11430">
            <a:solidFill>
              <a:srgbClr val="4E5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89520" y="4114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4E5A57"/>
                </a:solidFill>
                <a:latin typeface="Apple SD Gothic Neo"/>
              </a:rPr>
              <a:t>LAN (인터넷 아님)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3154680"/>
            <a:ext cx="1600200" cy="621792"/>
          </a:xfrm>
          <a:prstGeom prst="roundRect">
            <a:avLst>
              <a:gd name="adj" fmla="val 8000"/>
            </a:avLst>
          </a:prstGeom>
          <a:solidFill>
            <a:srgbClr val="E4E9E7"/>
          </a:solidFill>
          <a:ln w="12700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101715"/>
                </a:solidFill>
                <a:latin typeface="Apple SD Gothic Neo"/>
              </a:rPr>
              <a:t>교실 허브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78837F"/>
                </a:solidFill>
                <a:latin typeface="Apple SD Gothic Neo"/>
              </a:rPr>
              <a:t>SQLite 사본 30인분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287000" y="3465576"/>
            <a:ext cx="640080" cy="0"/>
          </a:xfrm>
          <a:prstGeom prst="line">
            <a:avLst/>
          </a:prstGeom>
          <a:ln w="28575">
            <a:solidFill>
              <a:srgbClr val="0B6E5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195560" y="312724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1">
                <a:solidFill>
                  <a:srgbClr val="0B6E5F"/>
                </a:solidFill>
                <a:latin typeface="Apple SD Gothic Neo"/>
              </a:rPr>
              <a:t>경로 1개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27080" y="3200400"/>
            <a:ext cx="1005840" cy="530352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270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0B6E5F"/>
                </a:solidFill>
                <a:latin typeface="Apple SD Gothic Neo"/>
              </a:rPr>
              <a:t>Supabase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892040"/>
            <a:ext cx="5212080" cy="82296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F"/>
                </a:solidFill>
                <a:latin typeface="Apple SD Gothic Neo"/>
              </a:rPr>
              <a:t>학생 PC 3이 시험 후 초기화되어도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0B6E5F"/>
                </a:solidFill>
                <a:latin typeface="Apple SD Gothic Neo"/>
              </a:rPr>
              <a:t>→ 답안은 허브에 있다. 허브 1대만 인터넷에 닿으면 전원 복구.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차이는 화살표 개수가 아니라 사본 수다. A안은 한 벌(학생 PC), B안은 두 벌(학생 PC + 허브).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권장 — B안, 다만 A안을 끄지 않는다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10789920" cy="141732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5875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50000"/>
              </a:lnSpc>
            </a:pPr>
            <a:r>
              <a:rPr sz="1500" b="0">
                <a:solidFill>
                  <a:srgbClr val="101715"/>
                </a:solidFill>
                <a:latin typeface="Apple SD Gothic Neo"/>
              </a:rPr>
              <a:t>학생 단말의 Outbox는 허브와 Supabase 두 목적지를 모두 안다. </a:t>
            </a:r>
            <a:r>
              <a:rPr sz="1500" b="1">
                <a:solidFill>
                  <a:srgbClr val="0B6E5F"/>
                </a:solidFill>
                <a:latin typeface="Apple SD Gothic Neo"/>
              </a:rPr>
              <a:t>허브가 응답하면 허브로, 허브가 죽었는데 인터넷이 살아 있으면 Supabase로 직접 간다.</a:t>
            </a:r>
            <a:r>
              <a:rPr sz="1500" b="0">
                <a:solidFill>
                  <a:srgbClr val="101715"/>
                </a:solidFill>
                <a:latin typeface="Apple SD Gothic Neo"/>
              </a:rPr>
              <a:t>
허브는 추가 안전망이지 단일 장애점이 아니어야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576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01715"/>
                </a:solidFill>
                <a:latin typeface="Apple SD Gothic Neo"/>
              </a:rPr>
              <a:t>B안이 전제하는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2336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4E5A57"/>
                </a:solidFill>
                <a:latin typeface="Apple SD Gothic Neo"/>
              </a:rPr>
              <a:t>· 시험장 LAN — 공유기 한 대면 충분하고 인터넷 회선은 필요 없다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4E5A57"/>
                </a:solidFill>
                <a:latin typeface="Apple SD Gothic Neo"/>
              </a:rPr>
              <a:t>· 선생님 노트북에서 서버 프로세스를 띄우는 절차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4E5A57"/>
                </a:solidFill>
                <a:latin typeface="Apple SD Gothic Neo"/>
              </a:rPr>
              <a:t>· 시험 전 허브 주소를 단말이 찾을 수 있는 설정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6576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01715"/>
                </a:solidFill>
                <a:latin typeface="Apple SD Gothic Neo"/>
              </a:rPr>
              <a:t>B안이 불가능하다면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402336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>
                <a:solidFill>
                  <a:srgbClr val="4E5A57"/>
                </a:solidFill>
                <a:latin typeface="Apple SD Gothic Neo"/>
              </a:rPr>
              <a:t>A안만으로도 요구사항은 충족된다. 대신 운영 규칙이 구조를 대신한다 —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4E5A57"/>
                </a:solidFill>
                <a:latin typeface="Apple SD Gothic Neo"/>
              </a:rPr>
              <a:t>“시험 종료 후 동기화 완료 전까지 PC를 초기화하지 않는다”를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4E5A57"/>
                </a:solidFill>
                <a:latin typeface="Apple SD Gothic Neo"/>
              </a:rPr>
              <a:t>강제하고, 종료 화면에서 답안 JSON 내보내기를 의무화한다.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STATE MACHINE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답안 한 건의 일생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선생님 화면에 무엇을 보여줄지는 이 상태값 하나로 정해진다. 상태는 회차(attempt)별로 관리하고 반 단위로 집계한다.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1715"/>
                </a:solidFill>
                <a:latin typeface="Apple SD Gothic Neo"/>
              </a:rPr>
              <a:t>로컬 저장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78837F"/>
                </a:solidFill>
                <a:latin typeface="Apple SD Gothic Neo"/>
              </a:rPr>
              <a:t>문항 입력 즉시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51760" y="2720340"/>
            <a:ext cx="384048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035808" y="228600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F3ECDC"/>
          </a:solidFill>
          <a:ln w="14604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A6410"/>
                </a:solidFill>
                <a:latin typeface="Apple SD Gothic Neo"/>
              </a:rPr>
              <a:t>전송 대기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8A6410"/>
                </a:solidFill>
                <a:latin typeface="Apple SD Gothic Neo"/>
              </a:rPr>
              <a:t>Outbox · 오프라인 내내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01768" y="2720340"/>
            <a:ext cx="384048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85816" y="228600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1715"/>
                </a:solidFill>
                <a:latin typeface="Apple SD Gothic Neo"/>
              </a:rPr>
              <a:t>전송 중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78837F"/>
                </a:solidFill>
                <a:latin typeface="Apple SD Gothic Neo"/>
              </a:rPr>
              <a:t>인터넷 복귀 감지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51775" y="2720340"/>
            <a:ext cx="384048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35823" y="228600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14604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F"/>
                </a:solidFill>
                <a:latin typeface="Apple SD Gothic Neo"/>
              </a:rPr>
              <a:t>동기화 완료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0B6E5F"/>
                </a:solidFill>
                <a:latin typeface="Apple SD Gothic Neo"/>
              </a:rPr>
              <a:t>서버 수신 확인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01784" y="2720340"/>
            <a:ext cx="384048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85832" y="228600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2032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F"/>
                </a:solidFill>
                <a:latin typeface="Apple SD Gothic Neo"/>
              </a:rPr>
              <a:t>확정 채점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0B6E5F"/>
                </a:solidFill>
                <a:latin typeface="Apple SD Gothic Neo"/>
              </a:rPr>
              <a:t>서버 재채점 → 대시보드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199339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4E5A57"/>
                </a:solidFill>
                <a:latin typeface="Apple SD Gothic Neo"/>
              </a:rPr>
              <a:t>online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199339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4E5A57"/>
                </a:solidFill>
                <a:latin typeface="Apple SD Gothic Neo"/>
              </a:rPr>
              <a:t>2xx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0" y="3154680"/>
            <a:ext cx="0" cy="502920"/>
          </a:xfrm>
          <a:prstGeom prst="line">
            <a:avLst/>
          </a:prstGeom>
          <a:ln w="14604">
            <a:solidFill>
              <a:srgbClr val="10171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108960" y="3657600"/>
            <a:ext cx="2377440" cy="0"/>
          </a:xfrm>
          <a:prstGeom prst="line">
            <a:avLst/>
          </a:prstGeom>
          <a:ln w="14604">
            <a:solidFill>
              <a:srgbClr val="10171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108960" y="3154680"/>
            <a:ext cx="0" cy="502920"/>
          </a:xfrm>
          <a:prstGeom prst="line">
            <a:avLst/>
          </a:prstGeom>
          <a:ln w="14604">
            <a:solidFill>
              <a:srgbClr val="10171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00400" y="37216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>
                <a:solidFill>
                  <a:srgbClr val="4E5A57"/>
                </a:solidFill>
                <a:latin typeface="Apple SD Gothic Neo"/>
              </a:rPr>
              <a:t>일시 실패 → 백오프 1s · 2s · 4s (지터 포함)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26480" y="3154680"/>
            <a:ext cx="0" cy="1673352"/>
          </a:xfrm>
          <a:prstGeom prst="line">
            <a:avLst/>
          </a:prstGeom>
          <a:ln w="16510">
            <a:solidFill>
              <a:srgbClr val="A32E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6480" y="4828032"/>
            <a:ext cx="777240" cy="0"/>
          </a:xfrm>
          <a:prstGeom prst="line">
            <a:avLst/>
          </a:prstGeom>
          <a:ln w="16510">
            <a:solidFill>
              <a:srgbClr val="A32E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03720" y="4572000"/>
            <a:ext cx="2377440" cy="530352"/>
          </a:xfrm>
          <a:prstGeom prst="roundRect">
            <a:avLst>
              <a:gd name="adj" fmla="val 8000"/>
            </a:avLst>
          </a:prstGeom>
          <a:solidFill>
            <a:srgbClr val="F5E3E2"/>
          </a:solidFill>
          <a:ln w="14604">
            <a:solidFill>
              <a:srgbClr val="A32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A32E28"/>
                </a:solidFill>
                <a:latin typeface="Apple SD Gothic Neo"/>
              </a:rPr>
              <a:t>미제출 (NOT SUBMIT)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468172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A32E28"/>
                </a:solidFill>
                <a:latin typeface="Apple SD Gothic Neo"/>
              </a:rPr>
              <a:t>3회 실패 · 관리자 화면에 경보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73352" y="3154680"/>
            <a:ext cx="0" cy="1463040"/>
          </a:xfrm>
          <a:prstGeom prst="line">
            <a:avLst/>
          </a:prstGeom>
          <a:ln w="11430">
            <a:solidFill>
              <a:srgbClr val="7883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46634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78837F"/>
                </a:solidFill>
                <a:latin typeface="Apple SD Gothic Neo"/>
              </a:rPr>
              <a:t>잠정 점수는 여기서 이미 나온다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‘전송 대기’는 정상 상태다 — 오프라인 시험 내내 모든 답안이 여기 머문다. 경보를 울려야 하는 유일한 상태는 ‘미제출’이다.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SCORING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채점은 두 번 한다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“자동 채점이 끝났음을 선생님이 본다”는 요구는 둘로 쪼개야 한다 — 오프라인에서 즉시 나오는 잠정 점수와,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서버가 다시 계산한 확정 점수. 구분하지 않으면 정답 키를 학생 PC에 두는 순간 점수의 신뢰가 무너진다.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오프라인 · 학생 단말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1715"/>
                </a:solidFill>
                <a:latin typeface="Apple SD Gothic Neo"/>
              </a:rPr>
              <a:t>잠정 채점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정답 키는 해시로만 번들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R · L · 문장배열 즉시 O/X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86200" y="3355848"/>
            <a:ext cx="548640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4760" y="3063240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50" b="0">
                <a:solidFill>
                  <a:srgbClr val="4E5A57"/>
                </a:solidFill>
                <a:latin typeface="Apple SD Gothic Neo"/>
              </a:rPr>
              <a:t>동기화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6888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spc="120">
                <a:solidFill>
                  <a:srgbClr val="78837F"/>
                </a:solidFill>
                <a:latin typeface="Menlo"/>
              </a:rPr>
              <a:t>온라인 · 서버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78892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 w="20320">
            <a:solidFill>
              <a:srgbClr val="0B6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F"/>
                </a:solidFill>
                <a:latin typeface="Apple SD Gothic Neo"/>
              </a:rPr>
              <a:t>확정 재채점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0B6E5F"/>
                </a:solidFill>
                <a:latin typeface="Apple SD Gothic Neo"/>
              </a:rPr>
              <a:t>원본 정답 키 (서버에만 존재)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0B6E5F"/>
                </a:solidFill>
                <a:latin typeface="Apple SD Gothic Neo"/>
              </a:rPr>
              <a:t>이 값이 성적표에 올라간다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26679" y="3355848"/>
            <a:ext cx="548641" cy="0"/>
          </a:xfrm>
          <a:prstGeom prst="line">
            <a:avLst/>
          </a:prstGeom>
          <a:ln w="16510">
            <a:solidFill>
              <a:srgbClr val="10171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275320" y="2788920"/>
            <a:ext cx="3200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4604">
            <a:solidFill>
              <a:srgbClr val="1017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1715"/>
                </a:solidFill>
                <a:latin typeface="Apple SD Gothic Neo"/>
              </a:rPr>
              <a:t>사람이 채점하는 것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Writing 본문 · Speaking 녹음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4E5A57"/>
                </a:solidFill>
                <a:latin typeface="Apple SD Gothic Neo"/>
              </a:rPr>
              <a:t>동기화 이후에만 가능 — 대기열로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0760" y="3931920"/>
            <a:ext cx="0" cy="731520"/>
          </a:xfrm>
          <a:prstGeom prst="line">
            <a:avLst/>
          </a:prstGeom>
          <a:ln w="15240">
            <a:solidFill>
              <a:srgbClr val="A32E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023360" y="4663440"/>
            <a:ext cx="2057400" cy="0"/>
          </a:xfrm>
          <a:prstGeom prst="line">
            <a:avLst/>
          </a:prstGeom>
          <a:ln w="15240">
            <a:solidFill>
              <a:srgbClr val="A32E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4407408"/>
            <a:ext cx="3337560" cy="530352"/>
          </a:xfrm>
          <a:prstGeom prst="roundRect">
            <a:avLst>
              <a:gd name="adj" fmla="val 8000"/>
            </a:avLst>
          </a:prstGeom>
          <a:solidFill>
            <a:srgbClr val="F5E3E2"/>
          </a:solidFill>
          <a:ln w="14604">
            <a:solidFill>
              <a:srgbClr val="A32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A32E28"/>
                </a:solidFill>
                <a:latin typeface="Apple SD Gothic Neo"/>
              </a:rPr>
              <a:t>두 점수 불일치 → 조작 의심 플래그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526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A32E28"/>
                </a:solidFill>
                <a:latin typeface="Apple SD Gothic Neo"/>
              </a:rPr>
              <a:t>잠정 점수를 믿지 않아도 되는 이유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잠정 점수는 학생 즉시 피드백용이고, 성적표의 근거는 언제나 서버 재채점 값이다.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GAP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지금 코드베이스에서 빠진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오프라인 저장 · Outbox · 백오프 · JSON 내보내기는 이미 구현되어 있다. 이 전략은 구멍 다섯 개를 메우는 계획이다.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48840"/>
          <a:ext cx="10789920" cy="3602736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4206240"/>
                <a:gridCol w="44805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구멍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지금 상태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메우는 방법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선생님이 학생
답안을 못 본다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schema.sql 의 RLS 가 전부 auth.uid() = 본인 행만 허용.
교사·관리자 역할이 존재하지 않는다.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profiles(role) 테이블과 교사·관리자용 SELECT 정책 추가.
요구사항의 핵심이 여기에 걸려 있다.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오프라인에는
auth.uid() 가 없다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익명 로그인은 인터넷을 요구한다.
오프라인 회차는 소유자가 비어 있다.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student_code + 단말 UUID 로 식별하고 동기화 시점에 uid 를 채운다.
학생 계정은 시험 전날 온라인일 때 미리 발급·캐시.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동기화 경로가
두 갈래다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exam-sync.js 는 /api/attempts/* 로,
app/js/sync.js 는 Supabase 로 직접 쏜다.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Outbox 를 정본으로 두고 전송 어댑터만
hub / supabase 두 개로 가른다.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로컬 저장이
지워질 수 있다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IndexedDB 는 용량 압박 시 브라우저가 임의로 비운다.
녹음 webm 은 수십 MB.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시험 시작 시 navigator.storage.persist() 로 영구 승격 요청.
거부되면 시험 시작을 막고 경고한다.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101715"/>
                          </a:solidFill>
                          <a:latin typeface="Apple SD Gothic Neo"/>
                        </a:rPr>
                        <a:t>동기화 상태를
볼 화면이 없다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SG_SYNC.stats() 가 값을 내놓지만
아무도 그리지 않는다.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>
                          <a:solidFill>
                            <a:srgbClr val="4E5A57"/>
                          </a:solidFill>
                          <a:latin typeface="Apple SD Gothic Neo"/>
                        </a:rPr>
                        <a:t>허브 현황판(오프라인)과 Supabase 대시보드(온라인),
두 화면을 만든다. 같은 상태값을 쓴다.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확인 요청 — app/js/config.js 에 Supabase URL·anon 키가 평문 커밋되어 있다. 위 1번(RLS 구멍)과 겹치면 이야기가 달라지므로 저장소 공개 범위를 먼저 확인할 것.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FAILURE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무엇이 어떻게 망가지고, 무엇으로 막는가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74519"/>
          <a:ext cx="10789920" cy="4151376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914400"/>
                <a:gridCol w="694944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사고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결과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방어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시험 중 브라우저·PC가 죽는다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0B6E5F"/>
                          </a:solidFill>
                          <a:latin typeface="Apple SD Gothic Neo"/>
                        </a:rPr>
                        <a:t>무해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문항 입력마다 로컬에 기록되어 있다. 재시작하면 같은 문항에서 이어진다 — 이미 구현됨.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동기화 도중 인터넷이 다시 끊긴다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0B6E5F"/>
                          </a:solidFill>
                          <a:latin typeface="Apple SD Gothic Neo"/>
                        </a:rPr>
                        <a:t>무해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보낸 항목만 큐에서 빠진다. 다음 복귀 때 나머지가 이어서 간다. 전부 upsert 라 중복 전송도 무해.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같은 답안이 두 번 올라간다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0B6E5F"/>
                          </a:solidFill>
                          <a:latin typeface="Apple SD Gothic Neo"/>
                        </a:rPr>
                        <a:t>무해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attempt UUID 는 단말이 만들고 (attempt_id, question_id) 에 unique 제약. 늦게 온 옛 값은 client_seq 로 걸러낸다.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단말 시계가 틀려 있다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8A6410"/>
                          </a:solidFill>
                          <a:latin typeface="Apple SD Gothic Neo"/>
                        </a:rPr>
                        <a:t>주의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제출 순서·시간 판정에 단말 시계를 쓰지 않는다. 내부 타이밍은 단조 시계로, 기록 시각은 서버 수신 시각으로.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스피킹 녹음 업로드가 3회 실패한다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8A6410"/>
                          </a:solidFill>
                          <a:latin typeface="Apple SD Gothic Neo"/>
                        </a:rPr>
                        <a:t>주의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답안 텍스트는 올라가 있고 녹음만 미제출이 된다. 관리자 화면의 수동 재업로드가 필요 — 현재 재시도 경로 없음.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학생이 로컬 답안을 편집한다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8A6410"/>
                          </a:solidFill>
                          <a:latin typeface="Apple SD Gothic Neo"/>
                        </a:rPr>
                        <a:t>주의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브라우저 로컬 저장은 원리상 학생이 열어볼 수 있다. 서버 재채점 + 불일치 플래그로 탐지. 정답 키 원본은 절대 번들 금지.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시험 후 PC를 초기화한다 (A안)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A32E28"/>
                          </a:solidFill>
                          <a:latin typeface="Apple SD Gothic Neo"/>
                        </a:rPr>
                        <a:t>치명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사본이 한 벌뿐이라 복구 불가. B안(교실 허브)이 유일한 구조적 방어. A안만 쓴다면 운영 규칙 + JSON 내보내기 강제로 대체.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어떤 순서로 만드는가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E5A57"/>
                </a:solidFill>
                <a:latin typeface="Apple SD Gothic Neo"/>
              </a:rPr>
              <a:t>각 단계가 끝나는 시점마다 실제로 시험을 칠 수 있는 상태여야 한다. 뒤 단계는 안전 마진을 더할 뿐이다.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48840"/>
          <a:ext cx="10789920" cy="3602736"/>
        </p:xfrm>
        <a:graphic>
          <a:graphicData uri="http://schemas.openxmlformats.org/drawingml/2006/table">
            <a:tbl>
              <a:tblPr firstRow="0" bandRow="0"/>
              <a:tblGrid>
                <a:gridCol w="640080"/>
                <a:gridCol w="2651760"/>
                <a:gridCol w="4572000"/>
                <a:gridCol w="29260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단계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내용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끝나면 가능해지는 것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>
                          <a:solidFill>
                            <a:srgbClr val="78837F"/>
                          </a:solidFill>
                          <a:latin typeface="Apple SD Gothic Neo"/>
                        </a:rPr>
                        <a:t>주로 손대는 곳</a:t>
                      </a:r>
                    </a:p>
                  </a:txBody>
                  <a:tcPr marL="91440" marR="91440" marT="45720" marB="45720" anchor="ctr">
                    <a:solidFill>
                      <a:srgbClr val="E4E9E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동기화 경로 단일화
+ 영구 저장소 승격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오프라인 시험을 치고, 인터넷이 돌아오면
답안이 Supabase 에 자동으로 올라간다.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exam-sync.js 어댑터 분리
exam-store.js persist 요청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역할 기반 RLS
+ 교사·관리자 대시보드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선생님이 “우리 반 30명 중 28명 동기화 완료,
2명 미제출”을 화면에서 본다. 요구사항 충족 지점.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supabase/schema.sql
대시보드 화면 신규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서버 재채점
+ 잠정/확정 분리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성적표가 서버 계산값 위에 서고,
로컬 조작이 드러난다.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채점 파이프라인
toefl_attempts 컬럼 추가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교실 허브 (B안)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학생 PC 가 초기화돼도 답안이 살아남고,
오프라인 중에도 진행 현황판이 돈다.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FastAPI + SQLite 허브
단말 목적지 탐색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1">
                          <a:solidFill>
                            <a:srgbClr val="101715"/>
                          </a:solidFill>
                          <a:latin typeface="Apple SD Gothic Neo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미제출 수동 재업로드
· 운영 도구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포기된 녹음을 관리자가 직접 다시 올린다.
사고 후 복구 경로가 생긴다.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00" b="0">
                          <a:solidFill>
                            <a:srgbClr val="4E5A57"/>
                          </a:solidFill>
                          <a:latin typeface="Apple SD Gothic Neo"/>
                        </a:rPr>
                        <a:t>관리자 화면
허브 내보내기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19963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78837F"/>
                </a:solidFill>
                <a:latin typeface="Apple SD Gothic Neo"/>
              </a:rPr>
              <a:t>단계 2 가 끝나는 시점이 “선생님과 관리자가 자동 채점 완료를 화면에서 본다”가 성립하는 지점이다.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spc="160">
                <a:solidFill>
                  <a:srgbClr val="78837F"/>
                </a:solidFill>
                <a:latin typeface="Menlo"/>
              </a:rP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01715"/>
                </a:solidFill>
                <a:latin typeface="Apple SD Gothic Neo"/>
              </a:rPr>
              <a:t>코딩 전에 정해야 할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444752"/>
            <a:ext cx="10820095" cy="0"/>
          </a:xfrm>
          <a:prstGeom prst="line">
            <a:avLst/>
          </a:prstGeom>
          <a:ln w="22225">
            <a:solidFill>
              <a:srgbClr val="1017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728655" y="457200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8837F"/>
                </a:solidFill>
                <a:latin typeface="Menlo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842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01715"/>
                </a:solidFill>
                <a:latin typeface="Apple SD Gothic Neo"/>
              </a:rPr>
              <a:t>교실 허브(B안)를 채택하는가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31343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시험장에 공유기와 선생님 노트북을 둘 수 있는지가 전부다.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못 두면 단계 4를 빼고 운영 규칙으로 대체한다.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9864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1693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01715"/>
                </a:solidFill>
                <a:latin typeface="Apple SD Gothic Neo"/>
              </a:rPr>
              <a:t>학생 계정을 언제 발급하는가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461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시험 전날 온라인 시점에 미리 만들어 캐시하는 방식을 전제로 썼다.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시험 당일 처음 만나는 학생이 있다면 다른 식별 방식이 필요하다.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831335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849623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01715"/>
                </a:solidFill>
                <a:latin typeface="Apple SD Gothic Neo"/>
              </a:rPr>
              <a:t>한 교실 규모와 녹음 총량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78807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30명 × 스피킹 4문항 × 45초면 대략 수백 MB.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업로드 창(시험 후 몇 분 안에 끝나야 하는지)에 따라 허브의 필요성이 갈린다.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764024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6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78231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01715"/>
                </a:solidFill>
                <a:latin typeface="Apple SD Gothic Neo"/>
              </a:rPr>
              <a:t>이 저장소의 공개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111496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4E5A57"/>
                </a:solidFill>
                <a:latin typeface="Apple SD Gothic Neo"/>
              </a:rPr>
              <a:t>07 슬라이드의 anon 키 건과 직결된다.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06440"/>
            <a:ext cx="10789920" cy="548640"/>
          </a:xfrm>
          <a:prstGeom prst="roundRect">
            <a:avLst>
              <a:gd name="adj" fmla="val 8000"/>
            </a:avLst>
          </a:prstGeom>
          <a:solidFill>
            <a:srgbClr val="E2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54864" bIns="54864"/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F"/>
                </a:solidFill>
                <a:latin typeface="Apple SD Gothic Neo"/>
              </a:rPr>
              <a:t>이 네 가지에 답이 오면 단계 1의 구체 설계로 들어간다.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