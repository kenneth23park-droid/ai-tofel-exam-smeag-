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6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783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200">
                <a:solidFill>
                  <a:srgbClr val="0B6E5F"/>
                </a:solidFill>
                <a:latin typeface="Menlo"/>
              </a:rPr>
              <a:t>SMEAG STUDYGROUND · 데이터 전략 · REV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101715"/>
                </a:solidFill>
                <a:latin typeface="Apple SD Gothic Neo"/>
              </a:rPr>
              <a:t>시험이 끝나고 3분,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101715"/>
                </a:solidFill>
                <a:latin typeface="Apple SD Gothic Neo"/>
              </a:rPr>
              <a:t>그 안에 답안을 회수한다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4206240"/>
            <a:ext cx="2834640" cy="0"/>
          </a:xfrm>
          <a:prstGeom prst="line">
            <a:avLst/>
          </a:prstGeom>
          <a:ln w="31750">
            <a:solidFill>
              <a:srgbClr val="1017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05840" y="4480560"/>
            <a:ext cx="8595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4E5A57"/>
                </a:solidFill>
                <a:latin typeface="Apple SD Gothic Neo"/>
              </a:rPr>
              <a:t>시험은 인터넷을 끊고 치른다. 답안은 학생 PC의 로컬 DB에 쌓이고,</a:t>
            </a:r>
          </a:p>
          <a:p>
            <a:pPr algn="l">
              <a:lnSpc>
                <a:spcPct val="150000"/>
              </a:lnSpc>
            </a:pPr>
            <a:r>
              <a:rPr sz="1450" b="0">
                <a:solidFill>
                  <a:srgbClr val="4E5A57"/>
                </a:solidFill>
                <a:latin typeface="Apple SD Gothic Neo"/>
              </a:rPr>
              <a:t>종료 직후 회선을 열면 30대가 한꺼번에 Supabase로 올린다.</a:t>
            </a:r>
          </a:p>
          <a:p>
            <a:pPr algn="l">
              <a:lnSpc>
                <a:spcPct val="150000"/>
              </a:lnSpc>
            </a:pPr>
            <a:r>
              <a:rPr sz="1450" b="0">
                <a:solidFill>
                  <a:srgbClr val="4E5A57"/>
                </a:solidFill>
                <a:latin typeface="Apple SD Gothic Neo"/>
              </a:rPr>
              <a:t>공용 PC에 아무것도 남기지 않는 것까지가 한 세트다.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989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0B6E5F"/>
                </a:solidFill>
                <a:latin typeface="Menlo"/>
              </a:rPr>
              <a:t>교실 허브(별도 서버)는 만들지 않는다 — 인터넷이 평소에는 되는 것으로 확인됨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60">
                <a:solidFill>
                  <a:srgbClr val="78837F"/>
                </a:solidFill>
                <a:latin typeface="Menlo"/>
              </a:rPr>
              <a:t>GIVEN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101715"/>
                </a:solidFill>
                <a:latin typeface="Apple SD Gothic Neo"/>
              </a:rPr>
              <a:t>확정된 전제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444752"/>
            <a:ext cx="10820095" cy="0"/>
          </a:xfrm>
          <a:prstGeom prst="line">
            <a:avLst/>
          </a:prstGeom>
          <a:ln w="22225">
            <a:solidFill>
              <a:srgbClr val="1017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28655" y="45720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>
                <a:solidFill>
                  <a:srgbClr val="78837F"/>
                </a:solidFill>
                <a:latin typeface="Menlo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29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084831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60">
                <a:solidFill>
                  <a:srgbClr val="0B6E5F"/>
                </a:solidFill>
                <a:latin typeface="Menlo"/>
              </a:rPr>
              <a:t>회선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377440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01715"/>
                </a:solidFill>
                <a:latin typeface="Apple SD Gothic Neo"/>
              </a:rPr>
              <a:t>인터넷은 있다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101715"/>
                </a:solidFill>
                <a:latin typeface="Apple SD Gothic Neo"/>
              </a:rPr>
              <a:t>— 시험 중에만 끊는다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200400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A57"/>
                </a:solidFill>
                <a:latin typeface="Apple SD Gothic Neo"/>
              </a:rPr>
              <a:t>부정행위 방지를 위한 차단이지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A57"/>
                </a:solidFill>
                <a:latin typeface="Apple SD Gothic Neo"/>
              </a:rPr>
              <a:t>회선 부재가 아니다. 종료 직후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A57"/>
                </a:solidFill>
                <a:latin typeface="Apple SD Gothic Neo"/>
              </a:rPr>
              <a:t>그 자리에서 다시 열 수 있다.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A57"/>
                </a:solidFill>
                <a:latin typeface="Apple SD Gothic Neo"/>
              </a:rPr>
              <a:t>→ 교실 서버는 필요 없다.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828800"/>
            <a:ext cx="3429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2084831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60">
                <a:solidFill>
                  <a:srgbClr val="0B6E5F"/>
                </a:solidFill>
                <a:latin typeface="Menlo"/>
              </a:rPr>
              <a:t>단말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377440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01715"/>
                </a:solidFill>
                <a:latin typeface="Apple SD Gothic Neo"/>
              </a:rPr>
              <a:t>학원 공용 PC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101715"/>
                </a:solidFill>
                <a:latin typeface="Apple SD Gothic Neo"/>
              </a:rPr>
              <a:t>· 다음 반이 바로 들어온다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3200400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A57"/>
                </a:solidFill>
                <a:latin typeface="Apple SD Gothic Neo"/>
              </a:rPr>
              <a:t>회수 시간이 넉넉하지 않고,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A57"/>
                </a:solidFill>
                <a:latin typeface="Apple SD Gothic Neo"/>
              </a:rPr>
              <a:t>PC에 앞 반 데이터가 남으면 안 된다.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A57"/>
                </a:solidFill>
                <a:latin typeface="Apple SD Gothic Neo"/>
              </a:rPr>
              <a:t>회수와 삭제가 모두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A57"/>
                </a:solidFill>
                <a:latin typeface="Apple SD Gothic Neo"/>
              </a:rPr>
              <a:t>자동이어야 한다.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7575" y="1828800"/>
            <a:ext cx="3429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084831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160">
                <a:solidFill>
                  <a:srgbClr val="0B6E5F"/>
                </a:solidFill>
                <a:latin typeface="Menlo"/>
              </a:rPr>
              <a:t>용량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3" y="2377440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01715"/>
                </a:solidFill>
                <a:latin typeface="Apple SD Gothic Neo"/>
              </a:rPr>
              <a:t>녹음은 작다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101715"/>
                </a:solidFill>
                <a:latin typeface="Apple SD Gothic Neo"/>
              </a:rPr>
              <a:t>— 병목이 아니다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3200400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A57"/>
                </a:solidFill>
                <a:latin typeface="Apple SD Gothic Neo"/>
              </a:rPr>
              <a:t>1인 5분 10초, 2.5–5 MB.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A57"/>
                </a:solidFill>
                <a:latin typeface="Apple SD Gothic Neo"/>
              </a:rPr>
              <a:t>30명이면 75–150 MB.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A57"/>
                </a:solidFill>
                <a:latin typeface="Apple SD Gothic Neo"/>
              </a:rPr>
              <a:t>판단 근거에서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4E5A57"/>
                </a:solidFill>
                <a:latin typeface="Apple SD Gothic Neo"/>
              </a:rPr>
              <a:t>제외해도 된다.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3484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59943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spc="100">
                <a:solidFill>
                  <a:srgbClr val="78837F"/>
                </a:solidFill>
                <a:latin typeface="Menlo"/>
              </a:rPr>
              <a:t>1인 녹음 시간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2803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101715"/>
                </a:solidFill>
                <a:latin typeface="Apple SD Gothic Neo"/>
              </a:rPr>
              <a:t>5분 10초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755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4E5A57"/>
                </a:solidFill>
                <a:latin typeface="Apple SD Gothic Neo"/>
              </a:rPr>
              <a:t>SR 12문항 + Interview 4문항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443484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459943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spc="100">
                <a:solidFill>
                  <a:srgbClr val="78837F"/>
                </a:solidFill>
                <a:latin typeface="Menlo"/>
              </a:rPr>
              <a:t>1인 용량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82803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101715"/>
                </a:solidFill>
                <a:latin typeface="Apple SD Gothic Neo"/>
              </a:rPr>
              <a:t>2.5–5 MB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1755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4E5A57"/>
                </a:solidFill>
                <a:latin typeface="Apple SD Gothic Neo"/>
              </a:rPr>
              <a:t>Opus, 브라우저 기본 비트레이트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3484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59943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spc="100">
                <a:solidFill>
                  <a:srgbClr val="78837F"/>
                </a:solidFill>
                <a:latin typeface="Menlo"/>
              </a:rPr>
              <a:t>30명 총량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82803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101715"/>
                </a:solidFill>
                <a:latin typeface="Apple SD Gothic Neo"/>
              </a:rPr>
              <a:t>75–150 MB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1755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4E5A57"/>
                </a:solidFill>
                <a:latin typeface="Apple SD Gothic Neo"/>
              </a:rPr>
              <a:t>답안 텍스트는 무시해도 될 크기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15400" y="443484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459943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spc="100">
                <a:solidFill>
                  <a:srgbClr val="78837F"/>
                </a:solidFill>
                <a:latin typeface="Menlo"/>
              </a:rPr>
              <a:t>업로드 소요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482803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101715"/>
                </a:solidFill>
                <a:latin typeface="Apple SD Gothic Neo"/>
              </a:rPr>
              <a:t>2–3분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517550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4E5A57"/>
                </a:solidFill>
                <a:latin typeface="Apple SD Gothic Neo"/>
              </a:rPr>
              <a:t>업링크 10 Mbps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78837F"/>
                </a:solidFill>
                <a:latin typeface="Apple SD Gothic Neo"/>
              </a:rPr>
              <a:t>숫자가 이렇게 나오는 이상 설계 질문은 “어떻게 옮길 것인가”가 아니라 “누가, 언제 올리는 버튼을 누르는가” 하나로 좁혀진다.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60">
                <a:solidFill>
                  <a:srgbClr val="78837F"/>
                </a:solidFill>
                <a:latin typeface="Menlo"/>
              </a:rP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101715"/>
                </a:solidFill>
                <a:latin typeface="Apple SD Gothic Neo"/>
              </a:rPr>
              <a:t>회수창 — 시험 종료 후 3분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444752"/>
            <a:ext cx="10820095" cy="0"/>
          </a:xfrm>
          <a:prstGeom prst="line">
            <a:avLst/>
          </a:prstGeom>
          <a:ln w="22225">
            <a:solidFill>
              <a:srgbClr val="1017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28655" y="45720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>
                <a:solidFill>
                  <a:srgbClr val="78837F"/>
                </a:solidFill>
                <a:latin typeface="Menlo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4E5A57"/>
                </a:solidFill>
                <a:latin typeface="Apple SD Gothic Neo"/>
              </a:rPr>
              <a:t>업로드는 학생 브라우저 안에서만 돈다. 학생이 창을 닫고 나가면 그 답안은 잠든다.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3703320"/>
            <a:ext cx="10698480" cy="0"/>
          </a:xfrm>
          <a:prstGeom prst="line">
            <a:avLst/>
          </a:prstGeom>
          <a:ln w="19050">
            <a:solidFill>
              <a:srgbClr val="D2DA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77240" y="224028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E4E9E7"/>
          </a:solidFill>
          <a:ln w="14604">
            <a:solidFill>
              <a:srgbClr val="1017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01715"/>
                </a:solidFill>
                <a:latin typeface="Apple SD Gothic Neo"/>
              </a:rPr>
              <a:t>시험 중 — 인터넷 차단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4E5A57"/>
                </a:solidFill>
                <a:latin typeface="Apple SD Gothic Neo"/>
              </a:rPr>
              <a:t>답안·녹음이 로컬 큐에 쌓인다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4E5A57"/>
                </a:solidFill>
                <a:latin typeface="Apple SD Gothic Neo"/>
              </a:rPr>
              <a:t>업로드 시도 0회 · 시험에 영향 0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3639312"/>
            <a:ext cx="128016" cy="128016"/>
          </a:xfrm>
          <a:prstGeom prst="ellipse">
            <a:avLst/>
          </a:prstGeom>
          <a:solidFill>
            <a:srgbClr val="10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384048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78837F"/>
                </a:solidFill>
                <a:latin typeface="Apple SD Gothic Neo"/>
              </a:rPr>
              <a:t>시작</a:t>
            </a:r>
          </a:p>
        </p:txBody>
      </p:sp>
      <p:sp>
        <p:nvSpPr>
          <p:cNvPr id="11" name="Oval 10"/>
          <p:cNvSpPr/>
          <p:nvPr/>
        </p:nvSpPr>
        <p:spPr>
          <a:xfrm>
            <a:off x="4233672" y="3621024"/>
            <a:ext cx="164592" cy="164592"/>
          </a:xfrm>
          <a:prstGeom prst="ellipse">
            <a:avLst/>
          </a:prstGeom>
          <a:solidFill>
            <a:srgbClr val="10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384048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1">
                <a:solidFill>
                  <a:srgbClr val="101715"/>
                </a:solidFill>
                <a:latin typeface="Apple SD Gothic Neo"/>
              </a:rPr>
              <a:t>종료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406908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950" b="0">
                <a:solidFill>
                  <a:srgbClr val="78837F"/>
                </a:solidFill>
                <a:latin typeface="Apple SD Gothic Neo"/>
              </a:rPr>
              <a:t>감독관이 회선을 연다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2121408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E2EEEB"/>
          </a:solidFill>
          <a:ln w="22860">
            <a:solidFill>
              <a:srgbClr val="0B6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B6E5F"/>
                </a:solidFill>
                <a:latin typeface="Apple SD Gothic Neo"/>
              </a:rPr>
              <a:t>회수창 — 2~3분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0B6E5F"/>
                </a:solidFill>
                <a:latin typeface="Apple SD Gothic Neo"/>
              </a:rPr>
              <a:t>30대가 동시에 Outbox를 비운다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0B6E5F"/>
                </a:solidFill>
                <a:latin typeface="Apple SD Gothic Neo"/>
              </a:rPr>
              <a:t>지난 반의 잔여 큐도 이때 같이 올라간다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0B6E5F"/>
                </a:solidFill>
                <a:latin typeface="Apple SD Gothic Neo"/>
              </a:rPr>
              <a:t>화면: “업로드 28 / 31 … 완료”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617720" y="3703320"/>
            <a:ext cx="3657600" cy="0"/>
          </a:xfrm>
          <a:prstGeom prst="line">
            <a:avLst/>
          </a:prstGeom>
          <a:ln w="57150">
            <a:solidFill>
              <a:srgbClr val="0B6E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421624" y="3621024"/>
            <a:ext cx="164592" cy="164592"/>
          </a:xfrm>
          <a:prstGeom prst="ellipse">
            <a:avLst/>
          </a:prstGeom>
          <a:solidFill>
            <a:srgbClr val="0B6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384048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1">
                <a:solidFill>
                  <a:srgbClr val="0B6E5F"/>
                </a:solidFill>
                <a:latin typeface="Apple SD Gothic Neo"/>
              </a:rPr>
              <a:t>완료 게이트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06908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950" b="0">
                <a:solidFill>
                  <a:srgbClr val="78837F"/>
                </a:solidFill>
                <a:latin typeface="Apple SD Gothic Neo"/>
              </a:rPr>
              <a:t>전원 초록이어야 해산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224028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E4E9E7"/>
          </a:solidFill>
          <a:ln w="14604">
            <a:solidFill>
              <a:srgbClr val="1017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01715"/>
                </a:solidFill>
                <a:latin typeface="Apple SD Gothic Neo"/>
              </a:rPr>
              <a:t>로컬 삭제 · 다음 반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4E5A57"/>
                </a:solidFill>
                <a:latin typeface="Apple SD Gothic Neo"/>
              </a:rPr>
              <a:t>확인된 회차만 지운다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4E5A57"/>
                </a:solidFill>
                <a:latin typeface="Apple SD Gothic Neo"/>
              </a:rPr>
              <a:t>PC에 앞 반 답안이 남지 않는다</a:t>
            </a:r>
          </a:p>
        </p:txBody>
      </p:sp>
      <p:sp>
        <p:nvSpPr>
          <p:cNvPr id="20" name="Oval 19"/>
          <p:cNvSpPr/>
          <p:nvPr/>
        </p:nvSpPr>
        <p:spPr>
          <a:xfrm>
            <a:off x="11411712" y="3639312"/>
            <a:ext cx="128016" cy="128016"/>
          </a:xfrm>
          <a:prstGeom prst="ellipse">
            <a:avLst/>
          </a:prstGeom>
          <a:solidFill>
            <a:srgbClr val="10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406640" y="3703320"/>
            <a:ext cx="0" cy="1097280"/>
          </a:xfrm>
          <a:prstGeom prst="line">
            <a:avLst/>
          </a:prstGeom>
          <a:ln w="16510">
            <a:solidFill>
              <a:srgbClr val="8A64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446520" y="4800600"/>
            <a:ext cx="960120" cy="0"/>
          </a:xfrm>
          <a:prstGeom prst="line">
            <a:avLst/>
          </a:prstGeom>
          <a:ln w="16510">
            <a:solidFill>
              <a:srgbClr val="8A64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651760" y="4572000"/>
            <a:ext cx="3794760" cy="502920"/>
          </a:xfrm>
          <a:prstGeom prst="roundRect">
            <a:avLst>
              <a:gd name="adj" fmla="val 8000"/>
            </a:avLst>
          </a:prstGeom>
          <a:solidFill>
            <a:srgbClr val="F3ECDC"/>
          </a:solidFill>
          <a:ln w="14604">
            <a:solidFill>
              <a:srgbClr val="8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8A6410"/>
                </a:solidFill>
                <a:latin typeface="Apple SD Gothic Neo"/>
              </a:rPr>
              <a:t>못 올린 PC → 다음 부팅 때 자동 회수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46817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8A6410"/>
                </a:solidFill>
                <a:latin typeface="Apple SD Gothic Neo"/>
              </a:rPr>
              <a:t>시간이 모자라도 답안은 살아 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78837F"/>
                </a:solidFill>
                <a:latin typeface="Apple SD Gothic Neo"/>
              </a:rPr>
              <a:t>회수창이 지나도 로컬 데이터는 그대로다 — 삭제는 서버 확인 뒤에만 일어난다. 회수창은 목표지 마감이 아니다.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60">
                <a:solidFill>
                  <a:srgbClr val="78837F"/>
                </a:solidFill>
                <a:latin typeface="Menlo"/>
              </a:rPr>
              <a:t>SHARED PC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101715"/>
                </a:solidFill>
                <a:latin typeface="Apple SD Gothic Neo"/>
              </a:rPr>
              <a:t>공용 PC의 진짜 문제 — 고아 아웃박스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444752"/>
            <a:ext cx="10820095" cy="0"/>
          </a:xfrm>
          <a:prstGeom prst="line">
            <a:avLst/>
          </a:prstGeom>
          <a:ln w="22225">
            <a:solidFill>
              <a:srgbClr val="1017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28655" y="45720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>
                <a:solidFill>
                  <a:srgbClr val="78837F"/>
                </a:solidFill>
                <a:latin typeface="Menlo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E5A57"/>
                </a:solidFill>
                <a:latin typeface="Apple SD Gothic Neo"/>
              </a:rPr>
              <a:t>계정이 다르면 데이터가 섞이지는 않는다. exam-store.js 의 키가 세션별로 갈리기 때문이다.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4E5A57"/>
                </a:solidFill>
                <a:latin typeface="Apple SD Gothic Neo"/>
              </a:rPr>
              <a:t>문제는 업로드가 “현재 세션”만 본다는 것 — 앞 반 학생의 큐는 남은 채 아무도 읽지 않는다.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spc="120">
                <a:solidFill>
                  <a:srgbClr val="78837F"/>
                </a:solidFill>
                <a:latin typeface="Menlo"/>
              </a:rPr>
              <a:t>지금 · 현재 세션만 본다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60320"/>
            <a:ext cx="2606040" cy="2148840"/>
          </a:xfrm>
          <a:prstGeom prst="roundRect">
            <a:avLst>
              <a:gd name="adj" fmla="val 8000"/>
            </a:avLst>
          </a:prstGeom>
          <a:noFill/>
          <a:ln w="14604">
            <a:solidFill>
              <a:srgbClr val="1017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2491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101715"/>
                </a:solidFill>
                <a:latin typeface="Apple SD Gothic Neo"/>
              </a:rPr>
              <a:t>공용 PC 저장소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017520"/>
            <a:ext cx="2240280" cy="457200"/>
          </a:xfrm>
          <a:prstGeom prst="roundRect">
            <a:avLst>
              <a:gd name="adj" fmla="val 8000"/>
            </a:avLst>
          </a:prstGeom>
          <a:solidFill>
            <a:srgbClr val="E4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01715"/>
                </a:solidFill>
                <a:latin typeface="Apple SD Gothic Neo"/>
              </a:rPr>
              <a:t>1교시 · 김○○ 세션</a:t>
            </a:r>
          </a:p>
          <a:p>
            <a:pPr algn="l">
              <a:lnSpc>
                <a:spcPct val="125000"/>
              </a:lnSpc>
            </a:pPr>
            <a:r>
              <a:rPr sz="850" b="0">
                <a:solidFill>
                  <a:srgbClr val="78837F"/>
                </a:solidFill>
                <a:latin typeface="Apple SD Gothic Neo"/>
              </a:rPr>
              <a:t>큐 11건 남음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547872"/>
            <a:ext cx="2240280" cy="457200"/>
          </a:xfrm>
          <a:prstGeom prst="roundRect">
            <a:avLst>
              <a:gd name="adj" fmla="val 8000"/>
            </a:avLst>
          </a:prstGeom>
          <a:solidFill>
            <a:srgbClr val="E4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01715"/>
                </a:solidFill>
                <a:latin typeface="Apple SD Gothic Neo"/>
              </a:rPr>
              <a:t>2교시 · 박○○ 세션</a:t>
            </a:r>
          </a:p>
          <a:p>
            <a:pPr algn="l">
              <a:lnSpc>
                <a:spcPct val="125000"/>
              </a:lnSpc>
            </a:pPr>
            <a:r>
              <a:rPr sz="850" b="0">
                <a:solidFill>
                  <a:srgbClr val="78837F"/>
                </a:solidFill>
                <a:latin typeface="Apple SD Gothic Neo"/>
              </a:rPr>
              <a:t>큐 7건 남음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078224"/>
            <a:ext cx="2240280" cy="457200"/>
          </a:xfrm>
          <a:prstGeom prst="roundRect">
            <a:avLst>
              <a:gd name="adj" fmla="val 8000"/>
            </a:avLst>
          </a:prstGeom>
          <a:solidFill>
            <a:srgbClr val="E4E9E7"/>
          </a:solidFill>
          <a:ln w="15240">
            <a:solidFill>
              <a:srgbClr val="1017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101715"/>
                </a:solidFill>
                <a:latin typeface="Apple SD Gothic Neo"/>
              </a:rPr>
              <a:t>3교시 · 이○○ 세션</a:t>
            </a:r>
          </a:p>
          <a:p>
            <a:pPr algn="l">
              <a:lnSpc>
                <a:spcPct val="125000"/>
              </a:lnSpc>
            </a:pPr>
            <a:r>
              <a:rPr sz="850" b="0">
                <a:solidFill>
                  <a:srgbClr val="78837F"/>
                </a:solidFill>
                <a:latin typeface="Apple SD Gothic Neo"/>
              </a:rPr>
              <a:t>← 지금 로그인한 학생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91840" y="4306824"/>
            <a:ext cx="685799" cy="0"/>
          </a:xfrm>
          <a:prstGeom prst="line">
            <a:avLst/>
          </a:prstGeom>
          <a:ln w="17780">
            <a:solidFill>
              <a:srgbClr val="10171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310128" y="4041648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950" b="0">
                <a:solidFill>
                  <a:srgbClr val="4E5A57"/>
                </a:solidFill>
                <a:latin typeface="Apple SD Gothic Neo"/>
              </a:rPr>
              <a:t>flush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4078224"/>
            <a:ext cx="1234440" cy="457200"/>
          </a:xfrm>
          <a:prstGeom prst="roundRect">
            <a:avLst>
              <a:gd name="adj" fmla="val 8000"/>
            </a:avLst>
          </a:prstGeom>
          <a:solidFill>
            <a:srgbClr val="E4E9E7"/>
          </a:solidFill>
          <a:ln w="12700">
            <a:solidFill>
              <a:srgbClr val="1017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01715"/>
                </a:solidFill>
                <a:latin typeface="Apple SD Gothic Neo"/>
              </a:rPr>
              <a:t>Supabase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91840" y="3246120"/>
            <a:ext cx="457199" cy="0"/>
          </a:xfrm>
          <a:prstGeom prst="line">
            <a:avLst/>
          </a:prstGeom>
          <a:ln w="15240">
            <a:solidFill>
              <a:srgbClr val="A32E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730752" y="3099815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A32E28"/>
                </a:solidFill>
                <a:latin typeface="Apple SD Gothic Neo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41648" y="312724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A32E28"/>
                </a:solidFill>
                <a:latin typeface="Apple SD Gothic Neo"/>
              </a:rPr>
              <a:t>고아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91840" y="3776472"/>
            <a:ext cx="457199" cy="0"/>
          </a:xfrm>
          <a:prstGeom prst="line">
            <a:avLst/>
          </a:prstGeom>
          <a:ln w="15240">
            <a:solidFill>
              <a:srgbClr val="A32E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730752" y="36301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A32E28"/>
                </a:solidFill>
                <a:latin typeface="Apple SD Gothic Neo"/>
              </a:rPr>
              <a:t>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41648" y="365760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A32E28"/>
                </a:solidFill>
                <a:latin typeface="Apple SD Gothic Neo"/>
              </a:rPr>
              <a:t>고아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84632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E5A57"/>
                </a:solidFill>
                <a:latin typeface="Apple SD Gothic Neo"/>
              </a:rPr>
              <a:t>앞 반 답안은 PC에 남아만 있다. 그 학생 계정으로 이 PC에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4E5A57"/>
                </a:solidFill>
                <a:latin typeface="Apple SD Gothic Neo"/>
              </a:rPr>
              <a:t>다시 들어와야 올라간다 — 사실상 불가능.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06440" y="2240280"/>
            <a:ext cx="0" cy="3200400"/>
          </a:xfrm>
          <a:prstGeom prst="line">
            <a:avLst/>
          </a:prstGeom>
          <a:ln w="12700">
            <a:solidFill>
              <a:srgbClr val="D2DA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09360" y="228600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spc="120">
                <a:solidFill>
                  <a:srgbClr val="0B6E5F"/>
                </a:solidFill>
                <a:latin typeface="Menlo"/>
              </a:rPr>
              <a:t>추가 · 시작 시 전체 세션을 훑는다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2560320"/>
            <a:ext cx="2606040" cy="2148840"/>
          </a:xfrm>
          <a:prstGeom prst="roundRect">
            <a:avLst>
              <a:gd name="adj" fmla="val 8000"/>
            </a:avLst>
          </a:prstGeom>
          <a:noFill/>
          <a:ln w="14604">
            <a:solidFill>
              <a:srgbClr val="1017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72491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101715"/>
                </a:solidFill>
                <a:latin typeface="Apple SD Gothic Neo"/>
              </a:rPr>
              <a:t>공용 PC 저장소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3017520"/>
            <a:ext cx="2240280" cy="457200"/>
          </a:xfrm>
          <a:prstGeom prst="roundRect">
            <a:avLst>
              <a:gd name="adj" fmla="val 8000"/>
            </a:avLst>
          </a:prstGeom>
          <a:solidFill>
            <a:srgbClr val="E4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01715"/>
                </a:solidFill>
                <a:latin typeface="Apple SD Gothic Neo"/>
              </a:rPr>
              <a:t>1교시 · 김○○ 세션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3547872"/>
            <a:ext cx="2240280" cy="457200"/>
          </a:xfrm>
          <a:prstGeom prst="roundRect">
            <a:avLst>
              <a:gd name="adj" fmla="val 8000"/>
            </a:avLst>
          </a:prstGeom>
          <a:solidFill>
            <a:srgbClr val="E4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01715"/>
                </a:solidFill>
                <a:latin typeface="Apple SD Gothic Neo"/>
              </a:rPr>
              <a:t>2교시 · 박○○ 세션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4078224"/>
            <a:ext cx="2240280" cy="457200"/>
          </a:xfrm>
          <a:prstGeom prst="roundRect">
            <a:avLst>
              <a:gd name="adj" fmla="val 8000"/>
            </a:avLst>
          </a:prstGeom>
          <a:solidFill>
            <a:srgbClr val="E4E9E7"/>
          </a:solidFill>
          <a:ln w="15240">
            <a:solidFill>
              <a:srgbClr val="1017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101715"/>
                </a:solidFill>
                <a:latin typeface="Apple SD Gothic Neo"/>
              </a:rPr>
              <a:t>3교시 · 이○○ 세션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915400" y="3246120"/>
            <a:ext cx="1005840" cy="960120"/>
          </a:xfrm>
          <a:prstGeom prst="line">
            <a:avLst/>
          </a:prstGeom>
          <a:ln w="20320">
            <a:solidFill>
              <a:srgbClr val="0B6E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15400" y="3776472"/>
            <a:ext cx="1005840" cy="429768"/>
          </a:xfrm>
          <a:prstGeom prst="line">
            <a:avLst/>
          </a:prstGeom>
          <a:ln w="20320">
            <a:solidFill>
              <a:srgbClr val="0B6E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915400" y="4206240"/>
            <a:ext cx="1005840" cy="100584"/>
          </a:xfrm>
          <a:prstGeom prst="line">
            <a:avLst/>
          </a:prstGeom>
          <a:ln w="20320">
            <a:solidFill>
              <a:srgbClr val="0B6E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921240" y="3950208"/>
            <a:ext cx="1600200" cy="530352"/>
          </a:xfrm>
          <a:prstGeom prst="roundRect">
            <a:avLst>
              <a:gd name="adj" fmla="val 8000"/>
            </a:avLst>
          </a:prstGeom>
          <a:solidFill>
            <a:srgbClr val="E2EEEB"/>
          </a:solidFill>
          <a:ln w="17780">
            <a:solidFill>
              <a:srgbClr val="0B6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F"/>
                </a:solidFill>
                <a:latin typeface="Apple SD Gothic Neo"/>
              </a:rPr>
              <a:t>Supabase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4590288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0B6E5F"/>
                </a:solidFill>
                <a:latin typeface="Apple SD Gothic Neo"/>
              </a:rPr>
              <a:t>남은 큐 전부가 함께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84632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4E5A57"/>
                </a:solidFill>
                <a:latin typeface="Apple SD Gothic Neo"/>
              </a:rPr>
              <a:t>회차 UUID 가 소유자를 들고 있으므로, 누가 로그인해 있든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4E5A57"/>
                </a:solidFill>
                <a:latin typeface="Apple SD Gothic Neo"/>
              </a:rPr>
              <a:t>각자 주인에게 귀속된다.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78837F"/>
                </a:solidFill>
                <a:latin typeface="Apple SD Gothic Neo"/>
              </a:rPr>
              <a:t>고칠 곳은 한 군데 — 업로드 대상을 “현재 세션”에서 “저장소에 남은 모든 미완료 회차”로 넓힌다. allKeys() 는 이미 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60">
                <a:solidFill>
                  <a:srgbClr val="78837F"/>
                </a:solidFill>
                <a:latin typeface="Menlo"/>
              </a:rPr>
              <a:t>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101715"/>
                </a:solidFill>
                <a:latin typeface="Apple SD Gothic Neo"/>
              </a:rPr>
              <a:t>학생 단말이 각자 올린다 — 허브는 만들지 않는다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444752"/>
            <a:ext cx="10820095" cy="0"/>
          </a:xfrm>
          <a:prstGeom prst="line">
            <a:avLst/>
          </a:prstGeom>
          <a:ln w="22225">
            <a:solidFill>
              <a:srgbClr val="1017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28655" y="45720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>
                <a:solidFill>
                  <a:srgbClr val="78837F"/>
                </a:solidFill>
                <a:latin typeface="Menlo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10789920" cy="1051560"/>
          </a:xfrm>
          <a:prstGeom prst="roundRect">
            <a:avLst>
              <a:gd name="adj" fmla="val 8000"/>
            </a:avLst>
          </a:prstGeom>
          <a:solidFill>
            <a:srgbClr val="E2EEEB"/>
          </a:solidFill>
          <a:ln w="17780">
            <a:solidFill>
              <a:srgbClr val="0B6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lnSpc>
                <a:spcPct val="145000"/>
              </a:lnSpc>
            </a:pPr>
            <a:r>
              <a:rPr sz="1550" b="0">
                <a:solidFill>
                  <a:srgbClr val="101715"/>
                </a:solidFill>
                <a:latin typeface="Apple SD Gothic Neo"/>
              </a:rPr>
              <a:t>허브 한 대를 세우는 것보다 훨씬 작은 작업이고, </a:t>
            </a:r>
            <a:r>
              <a:rPr sz="1550" b="1">
                <a:solidFill>
                  <a:srgbClr val="0B6E5F"/>
                </a:solidFill>
                <a:latin typeface="Apple SD Gothic Neo"/>
              </a:rPr>
              <a:t>공용 PC 위생까지 같이 해결된다.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246120"/>
            <a:ext cx="34290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349300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0B6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353872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101715"/>
                </a:solidFill>
                <a:latin typeface="Apple SD Gothic Neo"/>
              </a:rPr>
              <a:t>시작 시 고아 큐 자동 회수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69080"/>
            <a:ext cx="2926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57"/>
                </a:solidFill>
                <a:latin typeface="Apple SD Gothic Neo"/>
              </a:rPr>
              <a:t>저장소에 남은 모든 미완료 회차를 훑어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57"/>
                </a:solidFill>
                <a:latin typeface="Apple SD Gothic Neo"/>
              </a:rPr>
              <a:t>큐에 올린다. 그 PC가 인터넷에 닿는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57"/>
                </a:solidFill>
                <a:latin typeface="Apple SD Gothic Neo"/>
              </a:rPr>
              <a:t>어느 시점에든 답안이 빠져나간다.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3246120"/>
            <a:ext cx="34290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349300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0B6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1496" y="353872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101715"/>
                </a:solidFill>
                <a:latin typeface="Apple SD Gothic Neo"/>
              </a:rPr>
              <a:t>종료 화면의 완료 게이트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4069080"/>
            <a:ext cx="2926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57"/>
                </a:solidFill>
                <a:latin typeface="Apple SD Gothic Neo"/>
              </a:rPr>
              <a:t>학생은 “업로드 완료”를 보고 나간다.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57"/>
                </a:solidFill>
                <a:latin typeface="Apple SD Gothic Neo"/>
              </a:rPr>
              <a:t>감독관 화면에는 반 전체 현황이 뜬다.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57"/>
                </a:solidFill>
                <a:latin typeface="Apple SD Gothic Neo"/>
              </a:rPr>
              <a:t>회수창이 성립하는 조건이다.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7575" y="3246120"/>
            <a:ext cx="34290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93607" y="349300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0B6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87384" y="353872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101715"/>
                </a:solidFill>
                <a:latin typeface="Apple SD Gothic Neo"/>
              </a:rPr>
              <a:t>서버 확인 후 로컬 자동 삭제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4069080"/>
            <a:ext cx="2926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57"/>
                </a:solidFill>
                <a:latin typeface="Apple SD Gothic Neo"/>
              </a:rPr>
              <a:t>수신이 확인된 회차만 지운다.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57"/>
                </a:solidFill>
                <a:latin typeface="Apple SD Gothic Neo"/>
              </a:rPr>
              <a:t>조기 삭제는 구조적으로 불가능하고,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4E5A57"/>
                </a:solidFill>
                <a:latin typeface="Apple SD Gothic Neo"/>
              </a:rPr>
              <a:t>PC에 앞 반 답안이 남지 않는다.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78837F"/>
                </a:solidFill>
                <a:latin typeface="Apple SD Gothic Neo"/>
              </a:rPr>
              <a:t>허브를 뺀 대가는 하나 — 학생이 시험 직후 자리를 뜨면 그 PC는 다음 부팅까지 답안을 안고 있게 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60">
                <a:solidFill>
                  <a:srgbClr val="78837F"/>
                </a:solidFill>
                <a:latin typeface="Menlo"/>
              </a:rPr>
              <a:t>STATE 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101715"/>
                </a:solidFill>
                <a:latin typeface="Apple SD Gothic Neo"/>
              </a:rPr>
              <a:t>답안 한 건의 일생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444752"/>
            <a:ext cx="10820095" cy="0"/>
          </a:xfrm>
          <a:prstGeom prst="line">
            <a:avLst/>
          </a:prstGeom>
          <a:ln w="22225">
            <a:solidFill>
              <a:srgbClr val="1017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28655" y="45720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>
                <a:solidFill>
                  <a:srgbClr val="78837F"/>
                </a:solidFill>
                <a:latin typeface="Menlo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4E5A57"/>
                </a:solidFill>
                <a:latin typeface="Apple SD Gothic Neo"/>
              </a:rPr>
              <a:t>선생님 화면에 무엇을 보여줄지는 이 상태값 하나로 정해진다. 상태는 회차(attempt)별로 관리하고 반 단위로 집계한다.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1965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1017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01715"/>
                </a:solidFill>
                <a:latin typeface="Apple SD Gothic Neo"/>
              </a:rPr>
              <a:t>로컬 저장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78837F"/>
                </a:solidFill>
                <a:latin typeface="Apple SD Gothic Neo"/>
              </a:rPr>
              <a:t>문항 입력 즉시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" y="2674620"/>
            <a:ext cx="384048" cy="0"/>
          </a:xfrm>
          <a:prstGeom prst="line">
            <a:avLst/>
          </a:prstGeom>
          <a:ln w="16510">
            <a:solidFill>
              <a:srgbClr val="10171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035808" y="2240280"/>
            <a:ext cx="1965960" cy="868680"/>
          </a:xfrm>
          <a:prstGeom prst="roundRect">
            <a:avLst>
              <a:gd name="adj" fmla="val 8000"/>
            </a:avLst>
          </a:prstGeom>
          <a:solidFill>
            <a:srgbClr val="F3ECDC"/>
          </a:solidFill>
          <a:ln w="14604">
            <a:solidFill>
              <a:srgbClr val="8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8A6410"/>
                </a:solidFill>
                <a:latin typeface="Apple SD Gothic Neo"/>
              </a:rPr>
              <a:t>전송 대기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8A6410"/>
                </a:solidFill>
                <a:latin typeface="Apple SD Gothic Neo"/>
              </a:rPr>
              <a:t>시험 내내 여기 머문다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01768" y="2674620"/>
            <a:ext cx="384048" cy="0"/>
          </a:xfrm>
          <a:prstGeom prst="line">
            <a:avLst/>
          </a:prstGeom>
          <a:ln w="16510">
            <a:solidFill>
              <a:srgbClr val="10171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85816" y="2240280"/>
            <a:ext cx="1965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1017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01715"/>
                </a:solidFill>
                <a:latin typeface="Apple SD Gothic Neo"/>
              </a:rPr>
              <a:t>전송 중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78837F"/>
                </a:solidFill>
                <a:latin typeface="Apple SD Gothic Neo"/>
              </a:rPr>
              <a:t>회선 개통 감지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51775" y="2674620"/>
            <a:ext cx="384048" cy="0"/>
          </a:xfrm>
          <a:prstGeom prst="line">
            <a:avLst/>
          </a:prstGeom>
          <a:ln w="16510">
            <a:solidFill>
              <a:srgbClr val="10171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35823" y="2240280"/>
            <a:ext cx="1965960" cy="868680"/>
          </a:xfrm>
          <a:prstGeom prst="roundRect">
            <a:avLst>
              <a:gd name="adj" fmla="val 8000"/>
            </a:avLst>
          </a:prstGeom>
          <a:solidFill>
            <a:srgbClr val="E2EEEB"/>
          </a:solidFill>
          <a:ln w="14604">
            <a:solidFill>
              <a:srgbClr val="0B6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B6E5F"/>
                </a:solidFill>
                <a:latin typeface="Apple SD Gothic Neo"/>
              </a:rPr>
              <a:t>동기화 완료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0B6E5F"/>
                </a:solidFill>
                <a:latin typeface="Apple SD Gothic Neo"/>
              </a:rPr>
              <a:t>서버 수신 확인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701784" y="2674620"/>
            <a:ext cx="384048" cy="0"/>
          </a:xfrm>
          <a:prstGeom prst="line">
            <a:avLst/>
          </a:prstGeom>
          <a:ln w="16510">
            <a:solidFill>
              <a:srgbClr val="10171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085832" y="2240280"/>
            <a:ext cx="1965960" cy="868680"/>
          </a:xfrm>
          <a:prstGeom prst="roundRect">
            <a:avLst>
              <a:gd name="adj" fmla="val 8000"/>
            </a:avLst>
          </a:prstGeom>
          <a:solidFill>
            <a:srgbClr val="E2EEEB"/>
          </a:solidFill>
          <a:ln w="20320">
            <a:solidFill>
              <a:srgbClr val="0B6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B6E5F"/>
                </a:solidFill>
                <a:latin typeface="Apple SD Gothic Neo"/>
              </a:rPr>
              <a:t>확정 채점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0B6E5F"/>
                </a:solidFill>
                <a:latin typeface="Apple SD Gothic Neo"/>
              </a:rPr>
              <a:t>서버 재채점 →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194767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950" b="0">
                <a:solidFill>
                  <a:srgbClr val="4E5A57"/>
                </a:solidFill>
                <a:latin typeface="Apple SD Gothic Neo"/>
              </a:rPr>
              <a:t>online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94767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950" b="0">
                <a:solidFill>
                  <a:srgbClr val="4E5A57"/>
                </a:solidFill>
                <a:latin typeface="Apple SD Gothic Neo"/>
              </a:rPr>
              <a:t>2xx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0" y="3108960"/>
            <a:ext cx="0" cy="457200"/>
          </a:xfrm>
          <a:prstGeom prst="line">
            <a:avLst/>
          </a:prstGeom>
          <a:ln w="14604">
            <a:solidFill>
              <a:srgbClr val="10171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108960" y="3566160"/>
            <a:ext cx="2377440" cy="0"/>
          </a:xfrm>
          <a:prstGeom prst="line">
            <a:avLst/>
          </a:prstGeom>
          <a:ln w="14604">
            <a:solidFill>
              <a:srgbClr val="10171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108960" y="3108960"/>
            <a:ext cx="0" cy="457200"/>
          </a:xfrm>
          <a:prstGeom prst="line">
            <a:avLst/>
          </a:prstGeom>
          <a:ln w="14604">
            <a:solidFill>
              <a:srgbClr val="10171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200400" y="362102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4E5A57"/>
                </a:solidFill>
                <a:latin typeface="Apple SD Gothic Neo"/>
              </a:rPr>
              <a:t>일시 실패 → 백오프 1s · 2s · 4s (지터 포함)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26480" y="3108960"/>
            <a:ext cx="0" cy="1481328"/>
          </a:xfrm>
          <a:prstGeom prst="line">
            <a:avLst/>
          </a:prstGeom>
          <a:ln w="16510">
            <a:solidFill>
              <a:srgbClr val="A32E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126480" y="4590288"/>
            <a:ext cx="777240" cy="0"/>
          </a:xfrm>
          <a:prstGeom prst="line">
            <a:avLst/>
          </a:prstGeom>
          <a:ln w="16510">
            <a:solidFill>
              <a:srgbClr val="A32E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903720" y="4334256"/>
            <a:ext cx="2377440" cy="530352"/>
          </a:xfrm>
          <a:prstGeom prst="roundRect">
            <a:avLst>
              <a:gd name="adj" fmla="val 8000"/>
            </a:avLst>
          </a:prstGeom>
          <a:solidFill>
            <a:srgbClr val="F5E3E2"/>
          </a:solidFill>
          <a:ln w="14604">
            <a:solidFill>
              <a:srgbClr val="A32E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A32E28"/>
                </a:solidFill>
                <a:latin typeface="Apple SD Gothic Neo"/>
              </a:rPr>
              <a:t>미제출 (NOT SUBMIT)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4443984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A32E28"/>
                </a:solidFill>
                <a:latin typeface="Apple SD Gothic Neo"/>
              </a:rPr>
              <a:t>3회 실패 · 관리자 화면에 경보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15200" y="3108960"/>
            <a:ext cx="0" cy="2331720"/>
          </a:xfrm>
          <a:prstGeom prst="line">
            <a:avLst/>
          </a:prstGeom>
          <a:ln w="17780">
            <a:solidFill>
              <a:srgbClr val="0B6E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3703320" y="5440680"/>
            <a:ext cx="3611880" cy="0"/>
          </a:xfrm>
          <a:prstGeom prst="line">
            <a:avLst/>
          </a:prstGeom>
          <a:ln w="17780">
            <a:solidFill>
              <a:srgbClr val="0B6E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737360" y="5193792"/>
            <a:ext cx="1965960" cy="502920"/>
          </a:xfrm>
          <a:prstGeom prst="roundRect">
            <a:avLst>
              <a:gd name="adj" fmla="val 8000"/>
            </a:avLst>
          </a:prstGeom>
          <a:solidFill>
            <a:srgbClr val="E2EEEB"/>
          </a:solidFill>
          <a:ln w="15240">
            <a:solidFill>
              <a:srgbClr val="0B6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0B6E5F"/>
                </a:solidFill>
                <a:latin typeface="Apple SD Gothic Neo"/>
              </a:rPr>
              <a:t>로컬 삭제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29437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0B6E5F"/>
                </a:solidFill>
                <a:latin typeface="Apple SD Gothic Neo"/>
              </a:rPr>
              <a:t>공용 PC 위생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78837F"/>
                </a:solidFill>
                <a:latin typeface="Apple SD Gothic Neo"/>
              </a:rPr>
              <a:t>‘전송 대기’는 정상 상태다 — 시험 내내 모든 답안이 여기 머문다. ‘동기화 완료’가 확인된 뒤에만 로컬이 지워진다.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60">
                <a:solidFill>
                  <a:srgbClr val="78837F"/>
                </a:solidFill>
                <a:latin typeface="Menlo"/>
              </a:rPr>
              <a:t>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101715"/>
                </a:solidFill>
                <a:latin typeface="Apple SD Gothic Neo"/>
              </a:rPr>
              <a:t>채점은 두 번 한다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444752"/>
            <a:ext cx="10820095" cy="0"/>
          </a:xfrm>
          <a:prstGeom prst="line">
            <a:avLst/>
          </a:prstGeom>
          <a:ln w="22225">
            <a:solidFill>
              <a:srgbClr val="1017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28655" y="45720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>
                <a:solidFill>
                  <a:srgbClr val="78837F"/>
                </a:solidFill>
                <a:latin typeface="Menlo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4E5A57"/>
                </a:solidFill>
                <a:latin typeface="Apple SD Gothic Neo"/>
              </a:rPr>
              <a:t>“자동 채점이 끝났음을 선생님이 본다”는 요구는 둘로 쪼개야 한다 — 오프라인에서 즉시 나오는 잠정 점수와,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4E5A57"/>
                </a:solidFill>
                <a:latin typeface="Apple SD Gothic Neo"/>
              </a:rPr>
              <a:t>서버가 다시 계산한 확정 점수. 구분하지 않으면 정답 키를 학생 PC에 두는 순간 점수의 신뢰가 무너진다.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spc="120">
                <a:solidFill>
                  <a:srgbClr val="78837F"/>
                </a:solidFill>
                <a:latin typeface="Menlo"/>
              </a:rPr>
              <a:t>오프라인 · 학생 단말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88920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1017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01715"/>
                </a:solidFill>
                <a:latin typeface="Apple SD Gothic Neo"/>
              </a:rPr>
              <a:t>잠정 채점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4E5A57"/>
                </a:solidFill>
                <a:latin typeface="Apple SD Gothic Neo"/>
              </a:rPr>
              <a:t>정답 키는 해시로만 번들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4E5A57"/>
                </a:solidFill>
                <a:latin typeface="Apple SD Gothic Neo"/>
              </a:rPr>
              <a:t>R · L · 문장배열 즉시 O/X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86200" y="3355848"/>
            <a:ext cx="548640" cy="0"/>
          </a:xfrm>
          <a:prstGeom prst="line">
            <a:avLst/>
          </a:prstGeom>
          <a:ln w="16510">
            <a:solidFill>
              <a:srgbClr val="10171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94760" y="3063240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950" b="0">
                <a:solidFill>
                  <a:srgbClr val="4E5A57"/>
                </a:solidFill>
                <a:latin typeface="Apple SD Gothic Neo"/>
              </a:rPr>
              <a:t>동기화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46888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spc="120">
                <a:solidFill>
                  <a:srgbClr val="78837F"/>
                </a:solidFill>
                <a:latin typeface="Menlo"/>
              </a:rPr>
              <a:t>온라인 · 서버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788920"/>
            <a:ext cx="3291840" cy="1143000"/>
          </a:xfrm>
          <a:prstGeom prst="roundRect">
            <a:avLst>
              <a:gd name="adj" fmla="val 8000"/>
            </a:avLst>
          </a:prstGeom>
          <a:solidFill>
            <a:srgbClr val="E2EEEB"/>
          </a:solidFill>
          <a:ln w="20320">
            <a:solidFill>
              <a:srgbClr val="0B6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6E5F"/>
                </a:solidFill>
                <a:latin typeface="Apple SD Gothic Neo"/>
              </a:rPr>
              <a:t>확정 재채점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0B6E5F"/>
                </a:solidFill>
                <a:latin typeface="Apple SD Gothic Neo"/>
              </a:rPr>
              <a:t>원본 정답 키 (서버에만 존재)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0B6E5F"/>
                </a:solidFill>
                <a:latin typeface="Apple SD Gothic Neo"/>
              </a:rPr>
              <a:t>이 값이 성적표에 올라간다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26679" y="3355848"/>
            <a:ext cx="548641" cy="0"/>
          </a:xfrm>
          <a:prstGeom prst="line">
            <a:avLst/>
          </a:prstGeom>
          <a:ln w="16510">
            <a:solidFill>
              <a:srgbClr val="10171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75320" y="2788920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604">
            <a:solidFill>
              <a:srgbClr val="1017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01715"/>
                </a:solidFill>
                <a:latin typeface="Apple SD Gothic Neo"/>
              </a:rPr>
              <a:t>사람이 채점하는 것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4E5A57"/>
                </a:solidFill>
                <a:latin typeface="Apple SD Gothic Neo"/>
              </a:rPr>
              <a:t>Writing 본문 · Speaking 녹음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4E5A57"/>
                </a:solidFill>
                <a:latin typeface="Apple SD Gothic Neo"/>
              </a:rPr>
              <a:t>동기화 이후에만 가능 — 대기열로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3931920"/>
            <a:ext cx="0" cy="731520"/>
          </a:xfrm>
          <a:prstGeom prst="line">
            <a:avLst/>
          </a:prstGeom>
          <a:ln w="15240">
            <a:solidFill>
              <a:srgbClr val="A32E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023360" y="4663440"/>
            <a:ext cx="2057400" cy="0"/>
          </a:xfrm>
          <a:prstGeom prst="line">
            <a:avLst/>
          </a:prstGeom>
          <a:ln w="15240">
            <a:solidFill>
              <a:srgbClr val="A32E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85800" y="4407408"/>
            <a:ext cx="3337560" cy="530352"/>
          </a:xfrm>
          <a:prstGeom prst="roundRect">
            <a:avLst>
              <a:gd name="adj" fmla="val 8000"/>
            </a:avLst>
          </a:prstGeom>
          <a:solidFill>
            <a:srgbClr val="F5E3E2"/>
          </a:solidFill>
          <a:ln w="14604">
            <a:solidFill>
              <a:srgbClr val="A32E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A32E28"/>
                </a:solidFill>
                <a:latin typeface="Apple SD Gothic Neo"/>
              </a:rPr>
              <a:t>두 점수 불일치 → 조작 의심 플래그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5262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A32E28"/>
                </a:solidFill>
                <a:latin typeface="Apple SD Gothic Neo"/>
              </a:rPr>
              <a:t>잠정 점수를 믿지 않아도 되는 이유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78837F"/>
                </a:solidFill>
                <a:latin typeface="Apple SD Gothic Neo"/>
              </a:rPr>
              <a:t>잠정 점수는 학생 즉시 피드백용이고, 성적표의 근거는 언제나 서버 재채점 값이다.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60">
                <a:solidFill>
                  <a:srgbClr val="78837F"/>
                </a:solidFill>
                <a:latin typeface="Menlo"/>
              </a:rPr>
              <a:t>GAP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101715"/>
                </a:solidFill>
                <a:latin typeface="Apple SD Gothic Neo"/>
              </a:rPr>
              <a:t>지금 코드베이스에서 빠진 것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444752"/>
            <a:ext cx="10820095" cy="0"/>
          </a:xfrm>
          <a:prstGeom prst="line">
            <a:avLst/>
          </a:prstGeom>
          <a:ln w="22225">
            <a:solidFill>
              <a:srgbClr val="1017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28655" y="45720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>
                <a:solidFill>
                  <a:srgbClr val="78837F"/>
                </a:solidFill>
                <a:latin typeface="Menlo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E5A57"/>
                </a:solidFill>
                <a:latin typeface="Apple SD Gothic Neo"/>
              </a:rPr>
              <a:t>오프라인 저장 · Outbox · 백오프 · JSON 내보내기는 이미 구현되어 있다. 이 전략은 구멍 여섯 개를 메우는 계획이다.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011680"/>
          <a:ext cx="10789920" cy="3694176"/>
        </p:xfrm>
        <a:graphic>
          <a:graphicData uri="http://schemas.openxmlformats.org/drawingml/2006/table">
            <a:tbl>
              <a:tblPr firstRow="0" bandRow="0"/>
              <a:tblGrid>
                <a:gridCol w="2103120"/>
                <a:gridCol w="4206240"/>
                <a:gridCol w="4480560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>
                          <a:solidFill>
                            <a:srgbClr val="78837F"/>
                          </a:solidFill>
                          <a:latin typeface="Apple SD Gothic Neo"/>
                        </a:rPr>
                        <a:t>구멍</a:t>
                      </a:r>
                    </a:p>
                  </a:txBody>
                  <a:tcPr marL="91440" marR="91440" marT="45720" marB="45720" anchor="ctr">
                    <a:solidFill>
                      <a:srgbClr val="E4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>
                          <a:solidFill>
                            <a:srgbClr val="78837F"/>
                          </a:solidFill>
                          <a:latin typeface="Apple SD Gothic Neo"/>
                        </a:rPr>
                        <a:t>지금 상태</a:t>
                      </a:r>
                    </a:p>
                  </a:txBody>
                  <a:tcPr marL="91440" marR="91440" marT="45720" marB="45720" anchor="ctr">
                    <a:solidFill>
                      <a:srgbClr val="E4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>
                          <a:solidFill>
                            <a:srgbClr val="78837F"/>
                          </a:solidFill>
                          <a:latin typeface="Apple SD Gothic Neo"/>
                        </a:rPr>
                        <a:t>메우는 방법</a:t>
                      </a:r>
                    </a:p>
                  </a:txBody>
                  <a:tcPr marL="91440" marR="91440" marT="45720" marB="45720" anchor="ctr">
                    <a:solidFill>
                      <a:srgbClr val="E4E9E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>
                          <a:solidFill>
                            <a:srgbClr val="101715"/>
                          </a:solidFill>
                          <a:latin typeface="Apple SD Gothic Neo"/>
                        </a:rPr>
                        <a:t>선생님이 학생
답안을 못 본다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4E5A57"/>
                          </a:solidFill>
                          <a:latin typeface="Apple SD Gothic Neo"/>
                        </a:rPr>
                        <a:t>RLS 가 전부 auth.uid() = 본인 행만 허용.
교사·관리자 역할이 존재하지 않는다.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4E5A57"/>
                          </a:solidFill>
                          <a:latin typeface="Apple SD Gothic Neo"/>
                        </a:rPr>
                        <a:t>profiles(role) 과 교사·관리자용 SELECT 정책 추가.
요구사항의 핵심이 여기에 걸려 있다.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>
                          <a:solidFill>
                            <a:srgbClr val="101715"/>
                          </a:solidFill>
                          <a:latin typeface="Apple SD Gothic Neo"/>
                        </a:rPr>
                        <a:t>고아 아웃박스가
방치된다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4E5A57"/>
                          </a:solidFill>
                          <a:latin typeface="Apple SD Gothic Neo"/>
                        </a:rPr>
                        <a:t>업로드가 현재 세션만 본다. 앞 반 학생의
미전송 큐는 아무도 읽지 않는다.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4E5A57"/>
                          </a:solidFill>
                          <a:latin typeface="Apple SD Gothic Neo"/>
                        </a:rPr>
                        <a:t>시작 시 저장소를 훑어 미완료 회차를 전부 큐에 올린다.
allKeys() 가 이미 있어 작업량이 작다.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>
                          <a:solidFill>
                            <a:srgbClr val="101715"/>
                          </a:solidFill>
                          <a:latin typeface="Apple SD Gothic Neo"/>
                        </a:rPr>
                        <a:t>업로드 완료를
확인할 화면이 없다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4E5A57"/>
                          </a:solidFill>
                          <a:latin typeface="Apple SD Gothic Neo"/>
                        </a:rPr>
                        <a:t>SG_SYNC.stats() 가 값을 내놓지만 아무도 안 그린다.
학생은 다 올라갔는지 모른 채 나간다.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4E5A57"/>
                          </a:solidFill>
                          <a:latin typeface="Apple SD Gothic Neo"/>
                        </a:rPr>
                        <a:t>종료 화면에 완료 게이트를, 감독관용으로 반 전체 현황판을.
회수창의 성립 조건이다.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>
                          <a:solidFill>
                            <a:srgbClr val="101715"/>
                          </a:solidFill>
                          <a:latin typeface="Apple SD Gothic Neo"/>
                        </a:rPr>
                        <a:t>공용 PC 에
앞 반 답안이 남는다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4E5A57"/>
                          </a:solidFill>
                          <a:latin typeface="Apple SD Gothic Neo"/>
                        </a:rPr>
                        <a:t>동기화 후에도 로컬 데이터가 그대로다.
다음 학생이 개발자도구로 꺼낼 수 있다.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4E5A57"/>
                          </a:solidFill>
                          <a:latin typeface="Apple SD Gothic Neo"/>
                        </a:rPr>
                        <a:t>서버 수신이 확인된 회차만 지운다.
삭제 조건을 서버 응답에 묶어 조기 삭제를 막는다.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>
                          <a:solidFill>
                            <a:srgbClr val="101715"/>
                          </a:solidFill>
                          <a:latin typeface="Apple SD Gothic Neo"/>
                        </a:rPr>
                        <a:t>오프라인에는
auth.uid() 가 없다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4E5A57"/>
                          </a:solidFill>
                          <a:latin typeface="Apple SD Gothic Neo"/>
                        </a:rPr>
                        <a:t>익명 로그인은 인터넷을 요구한다.
오프라인 회차는 소유자가 비어 있다.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4E5A57"/>
                          </a:solidFill>
                          <a:latin typeface="Apple SD Gothic Neo"/>
                        </a:rPr>
                        <a:t>student_code + 단말 UUID 로 식별하고
동기화 시점에 uid 를 채운다.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>
                          <a:solidFill>
                            <a:srgbClr val="101715"/>
                          </a:solidFill>
                          <a:latin typeface="Apple SD Gothic Neo"/>
                        </a:rPr>
                        <a:t>동기화 경로가
두 갈래다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4E5A57"/>
                          </a:solidFill>
                          <a:latin typeface="Apple SD Gothic Neo"/>
                        </a:rPr>
                        <a:t>exam-sync.js 는 /api/attempts/* 로,
app/js/sync.js 는 Supabase 로 직접 쏜다.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4E5A57"/>
                          </a:solidFill>
                          <a:latin typeface="Apple SD Gothic Neo"/>
                        </a:rPr>
                        <a:t>exam-sync.js 의 Outbox 를 정본으로 두고
전송 어댑터를 Supabase 하나로 정리한다.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78837F"/>
                </a:solidFill>
                <a:latin typeface="Apple SD Gothic Neo"/>
              </a:rPr>
              <a:t>확인 요청 — app/js/config.js 에 Supabase URL·anon 키가 평문 커밋되어 있다. 첫 번째 구멍(RLS)과 겹치면 이야기가 달라진다.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60">
                <a:solidFill>
                  <a:srgbClr val="78837F"/>
                </a:solidFill>
                <a:latin typeface="Menlo"/>
              </a:rP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101715"/>
                </a:solidFill>
                <a:latin typeface="Apple SD Gothic Neo"/>
              </a:rPr>
              <a:t>무엇이 어떻게 망가지고, 무엇으로 막는가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444752"/>
            <a:ext cx="10820095" cy="0"/>
          </a:xfrm>
          <a:prstGeom prst="line">
            <a:avLst/>
          </a:prstGeom>
          <a:ln w="22225">
            <a:solidFill>
              <a:srgbClr val="1017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28655" y="45720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>
                <a:solidFill>
                  <a:srgbClr val="78837F"/>
                </a:solidFill>
                <a:latin typeface="Menlo"/>
              </a:rPr>
              <a:t>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28800"/>
          <a:ext cx="10789920" cy="4315968"/>
        </p:xfrm>
        <a:graphic>
          <a:graphicData uri="http://schemas.openxmlformats.org/drawingml/2006/table">
            <a:tbl>
              <a:tblPr firstRow="0" bandRow="0"/>
              <a:tblGrid>
                <a:gridCol w="2834640"/>
                <a:gridCol w="914400"/>
                <a:gridCol w="7040880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>
                          <a:solidFill>
                            <a:srgbClr val="78837F"/>
                          </a:solidFill>
                          <a:latin typeface="Apple SD Gothic Neo"/>
                        </a:rPr>
                        <a:t>사고</a:t>
                      </a:r>
                    </a:p>
                  </a:txBody>
                  <a:tcPr marL="91440" marR="91440" marT="45720" marB="45720" anchor="ctr">
                    <a:solidFill>
                      <a:srgbClr val="E4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>
                          <a:solidFill>
                            <a:srgbClr val="78837F"/>
                          </a:solidFill>
                          <a:latin typeface="Apple SD Gothic Neo"/>
                        </a:rPr>
                        <a:t>결과</a:t>
                      </a:r>
                    </a:p>
                  </a:txBody>
                  <a:tcPr marL="91440" marR="91440" marT="45720" marB="45720" anchor="ctr">
                    <a:solidFill>
                      <a:srgbClr val="E4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>
                          <a:solidFill>
                            <a:srgbClr val="78837F"/>
                          </a:solidFill>
                          <a:latin typeface="Apple SD Gothic Neo"/>
                        </a:rPr>
                        <a:t>방어</a:t>
                      </a:r>
                    </a:p>
                  </a:txBody>
                  <a:tcPr marL="91440" marR="91440" marT="45720" marB="45720" anchor="ctr">
                    <a:solidFill>
                      <a:srgbClr val="E4E9E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01715"/>
                          </a:solidFill>
                          <a:latin typeface="Apple SD Gothic Neo"/>
                        </a:rPr>
                        <a:t>시험 중 브라우저·PC가 죽는다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0B6E5F"/>
                          </a:solidFill>
                          <a:latin typeface="Apple SD Gothic Neo"/>
                        </a:rPr>
                        <a:t>무해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4E5A57"/>
                          </a:solidFill>
                          <a:latin typeface="Apple SD Gothic Neo"/>
                        </a:rPr>
                        <a:t>문항 입력마다 로컬에 기록되어 있다. 재시작하면 같은 문항에서 이어진다 — 이미 구현됨.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01715"/>
                          </a:solidFill>
                          <a:latin typeface="Apple SD Gothic Neo"/>
                        </a:rPr>
                        <a:t>회수창 안에 다 못 올린다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0B6E5F"/>
                          </a:solidFill>
                          <a:latin typeface="Apple SD Gothic Neo"/>
                        </a:rPr>
                        <a:t>무해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4E5A57"/>
                          </a:solidFill>
                          <a:latin typeface="Apple SD Gothic Neo"/>
                        </a:rPr>
                        <a:t>남은 큐는 그대로 있다. 그 PC를 다음에 켜면 고아 회수 로직이 자동으로 마저 올린다.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01715"/>
                          </a:solidFill>
                          <a:latin typeface="Apple SD Gothic Neo"/>
                        </a:rPr>
                        <a:t>같은 답안이 두 번 올라간다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0B6E5F"/>
                          </a:solidFill>
                          <a:latin typeface="Apple SD Gothic Neo"/>
                        </a:rPr>
                        <a:t>무해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4E5A57"/>
                          </a:solidFill>
                          <a:latin typeface="Apple SD Gothic Neo"/>
                        </a:rPr>
                        <a:t>attempt UUID 는 단말이 만들고 (attempt_id, question_id) 에 unique 제약. 늦게 온 옛 값은 client_seq 로 걸러낸다.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01715"/>
                          </a:solidFill>
                          <a:latin typeface="Apple SD Gothic Neo"/>
                        </a:rPr>
                        <a:t>30대가 동시에 올린다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0B6E5F"/>
                          </a:solidFill>
                          <a:latin typeface="Apple SD Gothic Neo"/>
                        </a:rPr>
                        <a:t>무해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4E5A57"/>
                          </a:solidFill>
                          <a:latin typeface="Apple SD Gothic Neo"/>
                        </a:rPr>
                        <a:t>총량 75–150 MB, Supabase 입장에서 미미하다. 재시도 지터가 이미 있어 동시 폭주도 흩어진다.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01715"/>
                          </a:solidFill>
                          <a:latin typeface="Apple SD Gothic Neo"/>
                        </a:rPr>
                        <a:t>단말 시계가 틀려 있다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8A6410"/>
                          </a:solidFill>
                          <a:latin typeface="Apple SD Gothic Neo"/>
                        </a:rPr>
                        <a:t>주의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4E5A57"/>
                          </a:solidFill>
                          <a:latin typeface="Apple SD Gothic Neo"/>
                        </a:rPr>
                        <a:t>제출 순서·시간 판정에 단말 시계를 쓰지 않는다. 내부 타이밍은 단조 시계, 기록 시각은 서버 수신 시각.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01715"/>
                          </a:solidFill>
                          <a:latin typeface="Apple SD Gothic Neo"/>
                        </a:rPr>
                        <a:t>스피킹 녹음이 3회 실패한다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8A6410"/>
                          </a:solidFill>
                          <a:latin typeface="Apple SD Gothic Neo"/>
                        </a:rPr>
                        <a:t>주의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4E5A57"/>
                          </a:solidFill>
                          <a:latin typeface="Apple SD Gothic Neo"/>
                        </a:rPr>
                        <a:t>답안 텍스트는 올라가 있고 녹음만 미제출이 된다. 관리자 화면의 수동 재업로드가 필요 — 현재 경로 없음.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01715"/>
                          </a:solidFill>
                          <a:latin typeface="Apple SD Gothic Neo"/>
                        </a:rPr>
                        <a:t>학생이 로컬 답안을 편집한다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8A6410"/>
                          </a:solidFill>
                          <a:latin typeface="Apple SD Gothic Neo"/>
                        </a:rPr>
                        <a:t>주의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4E5A57"/>
                          </a:solidFill>
                          <a:latin typeface="Apple SD Gothic Neo"/>
                        </a:rPr>
                        <a:t>로컬 저장은 원리상 학생이 열어볼 수 있다. 서버 재채점 + 불일치 플래그로 탐지. 정답 키 원본은 번들 금지.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01715"/>
                          </a:solidFill>
                          <a:latin typeface="Apple SD Gothic Neo"/>
                        </a:rPr>
                        <a:t>PC가 게스트 모드거나
세션 종료 시 초기화된다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A32E28"/>
                          </a:solidFill>
                          <a:latin typeface="Apple SD Gothic Neo"/>
                        </a:rPr>
                        <a:t>치명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4E5A57"/>
                          </a:solidFill>
                          <a:latin typeface="Apple SD Gothic Neo"/>
                        </a:rPr>
                        <a:t>회수 전에 저장소가 통째로 날아간다. 시험용 프로필을 일반 모드로 고정하고, persist() 거부 시 시험 진입을 막는다.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78837F"/>
                </a:solidFill>
                <a:latin typeface="Apple SD Gothic Neo"/>
              </a:rPr>
              <a:t>유일하게 남은 치명 위험은 공용 PC 세팅이다 — 계정 분리로도 허브로도 막을 수 없다. PC 관리 방식을 먼저 확인해야 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60">
                <a:solidFill>
                  <a:srgbClr val="78837F"/>
                </a:solidFill>
                <a:latin typeface="Menlo"/>
              </a:rPr>
              <a:t>ROLLOUT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101715"/>
                </a:solidFill>
                <a:latin typeface="Apple SD Gothic Neo"/>
              </a:rPr>
              <a:t>어떤 순서로 만드는가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444752"/>
            <a:ext cx="10820095" cy="0"/>
          </a:xfrm>
          <a:prstGeom prst="line">
            <a:avLst/>
          </a:prstGeom>
          <a:ln w="22225">
            <a:solidFill>
              <a:srgbClr val="1017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28655" y="45720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>
                <a:solidFill>
                  <a:srgbClr val="78837F"/>
                </a:solidFill>
                <a:latin typeface="Menlo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4E5A57"/>
                </a:solidFill>
                <a:latin typeface="Apple SD Gothic Neo"/>
              </a:rPr>
              <a:t>각 단계가 끝나는 시점마다 실제로 시험을 칠 수 있는 상태여야 한다. 허브를 빼면서 한 단계가 줄었다.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48840"/>
          <a:ext cx="10789920" cy="3419856"/>
        </p:xfrm>
        <a:graphic>
          <a:graphicData uri="http://schemas.openxmlformats.org/drawingml/2006/table">
            <a:tbl>
              <a:tblPr firstRow="0" bandRow="0"/>
              <a:tblGrid>
                <a:gridCol w="640080"/>
                <a:gridCol w="2834640"/>
                <a:gridCol w="4389120"/>
                <a:gridCol w="292608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>
                          <a:solidFill>
                            <a:srgbClr val="78837F"/>
                          </a:solidFill>
                          <a:latin typeface="Apple SD Gothic Neo"/>
                        </a:rPr>
                        <a:t>단계</a:t>
                      </a:r>
                    </a:p>
                  </a:txBody>
                  <a:tcPr marL="91440" marR="91440" marT="45720" marB="45720" anchor="ctr">
                    <a:solidFill>
                      <a:srgbClr val="E4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>
                          <a:solidFill>
                            <a:srgbClr val="78837F"/>
                          </a:solidFill>
                          <a:latin typeface="Apple SD Gothic Neo"/>
                        </a:rPr>
                        <a:t>내용</a:t>
                      </a:r>
                    </a:p>
                  </a:txBody>
                  <a:tcPr marL="91440" marR="91440" marT="45720" marB="45720" anchor="ctr">
                    <a:solidFill>
                      <a:srgbClr val="E4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>
                          <a:solidFill>
                            <a:srgbClr val="78837F"/>
                          </a:solidFill>
                          <a:latin typeface="Apple SD Gothic Neo"/>
                        </a:rPr>
                        <a:t>끝나면 가능해지는 것</a:t>
                      </a:r>
                    </a:p>
                  </a:txBody>
                  <a:tcPr marL="91440" marR="91440" marT="45720" marB="45720" anchor="ctr">
                    <a:solidFill>
                      <a:srgbClr val="E4E9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>
                          <a:solidFill>
                            <a:srgbClr val="78837F"/>
                          </a:solidFill>
                          <a:latin typeface="Apple SD Gothic Neo"/>
                        </a:rPr>
                        <a:t>주로 손대는 곳</a:t>
                      </a:r>
                    </a:p>
                  </a:txBody>
                  <a:tcPr marL="91440" marR="91440" marT="45720" marB="45720" anchor="ctr">
                    <a:solidFill>
                      <a:srgbClr val="E4E9E7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01715"/>
                          </a:solidFill>
                          <a:latin typeface="Apple SD Gothic Neo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4E5A57"/>
                          </a:solidFill>
                          <a:latin typeface="Apple SD Gothic Neo"/>
                        </a:rPr>
                        <a:t>동기화 경로 단일화
+ 고아 큐 회수
+ 영구 저장소 승격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4E5A57"/>
                          </a:solidFill>
                          <a:latin typeface="Apple SD Gothic Neo"/>
                        </a:rPr>
                        <a:t>오프라인 시험을 치고, 회선을 열면
그 PC 에 남은 모든 회차가 자동으로 올라간다.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4E5A57"/>
                          </a:solidFill>
                          <a:latin typeface="Apple SD Gothic Neo"/>
                        </a:rPr>
                        <a:t>exam-sync.js 어댑터 정리
exam-store.js 전체 스캔 · persist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01715"/>
                          </a:solidFill>
                          <a:latin typeface="Apple SD Gothic Neo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4E5A57"/>
                          </a:solidFill>
                          <a:latin typeface="Apple SD Gothic Neo"/>
                        </a:rPr>
                        <a:t>완료 게이트 + 감독관 현황판
+ 로컬 자동 삭제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4E5A57"/>
                          </a:solidFill>
                          <a:latin typeface="Apple SD Gothic Neo"/>
                        </a:rPr>
                        <a:t>회수창이 성립한다. 학생은 완료를 보고 나가고,
PC 에는 아무것도 남지 않는다.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4E5A57"/>
                          </a:solidFill>
                          <a:latin typeface="Apple SD Gothic Neo"/>
                        </a:rPr>
                        <a:t>종료 화면
감독관 화면 신규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01715"/>
                          </a:solidFill>
                          <a:latin typeface="Apple SD Gothic Neo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4E5A57"/>
                          </a:solidFill>
                          <a:latin typeface="Apple SD Gothic Neo"/>
                        </a:rPr>
                        <a:t>역할 기반 RLS
+ 교사·관리자 대시보드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4E5A57"/>
                          </a:solidFill>
                          <a:latin typeface="Apple SD Gothic Neo"/>
                        </a:rPr>
                        <a:t>선생님이 “우리 반 30명 중 28명 동기화 완료,
2명 미제출”을 본다. 요구사항 충족 지점.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4E5A57"/>
                          </a:solidFill>
                          <a:latin typeface="Apple SD Gothic Neo"/>
                        </a:rPr>
                        <a:t>supabase/schema.sql
대시보드 화면 신규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01715"/>
                          </a:solidFill>
                          <a:latin typeface="Apple SD Gothic Neo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4E5A57"/>
                          </a:solidFill>
                          <a:latin typeface="Apple SD Gothic Neo"/>
                        </a:rPr>
                        <a:t>서버 재채점
+ 미제출 수동 재업로드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4E5A57"/>
                          </a:solidFill>
                          <a:latin typeface="Apple SD Gothic Neo"/>
                        </a:rPr>
                        <a:t>성적표가 서버 계산값 위에 서고, 포기된 녹음을
관리자가 직접 다시 올릴 수 있다.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4E5A57"/>
                          </a:solidFill>
                          <a:latin typeface="Apple SD Gothic Neo"/>
                        </a:rPr>
                        <a:t>채점 파이프라인
관리자 화면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78837F"/>
                </a:solidFill>
                <a:latin typeface="Apple SD Gothic Neo"/>
              </a:rPr>
              <a:t>단계 3 이 끝나는 시점이 “선생님과 관리자가 자동 채점 완료를 화면에서 본다”가 성립하는 지점이다.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160">
                <a:solidFill>
                  <a:srgbClr val="78837F"/>
                </a:solidFill>
                <a:latin typeface="Menlo"/>
              </a:rPr>
              <a:t>OPEN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101715"/>
                </a:solidFill>
                <a:latin typeface="Apple SD Gothic Neo"/>
              </a:rPr>
              <a:t>코딩 전에 확인할 것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444752"/>
            <a:ext cx="10820095" cy="0"/>
          </a:xfrm>
          <a:prstGeom prst="line">
            <a:avLst/>
          </a:prstGeom>
          <a:ln w="22225">
            <a:solidFill>
              <a:srgbClr val="1017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728655" y="45720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>
                <a:solidFill>
                  <a:srgbClr val="78837F"/>
                </a:solidFill>
                <a:latin typeface="Menlo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B6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Apple SD Gothic Ne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842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01715"/>
                </a:solidFill>
                <a:latin typeface="Apple SD Gothic Neo"/>
              </a:rPr>
              <a:t>시험용 PC 가 시크릿/게스트 모드나 복원 프로그램으로 관리되는가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1343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4E5A57"/>
                </a:solidFill>
                <a:latin typeface="Apple SD Gothic Neo"/>
              </a:rPr>
              <a:t>유일하게 남은 치명 위험이다. 그렇다면 시험용 브라우저 프로필을 예외로 빼는 세팅이 선행되어야 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89864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B6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Apple SD Gothic Ne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1693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01715"/>
                </a:solidFill>
                <a:latin typeface="Apple SD Gothic Neo"/>
              </a:rPr>
              <a:t>시험 종료 후 학생을 3분 붙잡아둘 수 있는가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461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4E5A57"/>
                </a:solidFill>
                <a:latin typeface="Apple SD Gothic Neo"/>
              </a:rPr>
              <a:t>안 되면 회수는 다음 부팅 회수에 전적으로 의존하게 되고, 그만큼 답안이 PC 에 남는 시간이 길어진다.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B6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Apple SD Gothic Neo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849623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01715"/>
                </a:solidFill>
                <a:latin typeface="Apple SD Gothic Neo"/>
              </a:rPr>
              <a:t>학생 계정을 언제 발급하는가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178807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4E5A57"/>
                </a:solidFill>
                <a:latin typeface="Apple SD Gothic Neo"/>
              </a:rPr>
              <a:t>시험 전날 온라인 시점에 미리 만들어 캐시하는 방식을 전제로 썼다. 당일 처음 만나는 학생이 있다면 다른 식별 방식이 필요하다.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76402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B6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54864" bIns="54864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Apple SD Gothic Neo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7823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01715"/>
                </a:solidFill>
                <a:latin typeface="Apple SD Gothic Neo"/>
              </a:rPr>
              <a:t>이 저장소의 공개 범위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111496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4E5A57"/>
                </a:solidFill>
                <a:latin typeface="Apple SD Gothic Neo"/>
              </a:rPr>
              <a:t>08 슬라이드의 anon 키 건과 직결된다.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806440"/>
            <a:ext cx="10789920" cy="548640"/>
          </a:xfrm>
          <a:prstGeom prst="roundRect">
            <a:avLst>
              <a:gd name="adj" fmla="val 8000"/>
            </a:avLst>
          </a:prstGeom>
          <a:solidFill>
            <a:srgbClr val="E2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54864" bIns="54864"/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6E5F"/>
                </a:solidFill>
                <a:latin typeface="Apple SD Gothic Neo"/>
              </a:rPr>
              <a:t>이 네 가지에 답이 오면 단계 1의 구체 설계로 들어간다.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