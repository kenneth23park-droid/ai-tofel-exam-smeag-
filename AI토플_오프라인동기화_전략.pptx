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6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691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0B6E5F"/>
                </a:solidFill>
                <a:latin typeface="Menlo"/>
              </a:rPr>
              <a:t>SMEAG STUDYGROUND · 데이터 전략 · REV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21408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900" b="1">
                <a:solidFill>
                  <a:srgbClr val="101715"/>
                </a:solidFill>
                <a:latin typeface="Apple SD Gothic Neo"/>
              </a:rPr>
              <a:t>회선과 무관하게 시험을 치고,</a:t>
            </a:r>
          </a:p>
          <a:p>
            <a:pPr algn="l">
              <a:lnSpc>
                <a:spcPct val="118000"/>
              </a:lnSpc>
            </a:pPr>
            <a:r>
              <a:rPr sz="3900" b="1">
                <a:solidFill>
                  <a:srgbClr val="101715"/>
                </a:solidFill>
                <a:latin typeface="Apple SD Gothic Neo"/>
              </a:rPr>
              <a:t>끝나면 녹음까지 자동으로 올린다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05840" y="4224528"/>
            <a:ext cx="2834640" cy="0"/>
          </a:xfrm>
          <a:prstGeom prst="line">
            <a:avLst/>
          </a:prstGeom>
          <a:ln w="31750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05840" y="4498848"/>
            <a:ext cx="8961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E5A57"/>
                </a:solidFill>
                <a:latin typeface="Apple SD Gothic Neo"/>
              </a:rPr>
              <a:t>앱은 인터넷이 있든 없든 똑같이 실행된다 — 문항·오디오·채점이 모두 PC 안에 있기 때문이다.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E5A57"/>
                </a:solidFill>
                <a:latin typeface="Apple SD Gothic Neo"/>
              </a:rPr>
              <a:t>답안과 녹음은 로컬에 쌓였다가, 회선이 살아나는 첫 순간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E5A57"/>
                </a:solidFill>
                <a:latin typeface="Apple SD Gothic Neo"/>
              </a:rPr>
              <a:t>사람 손을 거치지 않고 Supabase 로 넘어간다.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0350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0B6E5F"/>
                </a:solidFill>
                <a:latin typeface="Menlo"/>
              </a:rPr>
              <a:t>저장은 세 겹, 업로드는 한 곳 — 공용 PC 정책이 어느 쪽으로 결론 나도 설계를 다시 짜지 않는다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DEFINITION OF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완성 조건 — 이 넷이 되면 끝이다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2606040" cy="265176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651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17627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60">
                <a:solidFill>
                  <a:srgbClr val="0B6E5F"/>
                </a:solidFill>
                <a:latin typeface="Menlo"/>
              </a:rPr>
              <a:t>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46888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1715"/>
                </a:solidFill>
                <a:latin typeface="Apple SD Gothic Neo"/>
              </a:rPr>
              <a:t>회선과 무관하게 앱이 뜬다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310128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PWA 셸 · 문항 · 오디오가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전부 로컬에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" y="4069080"/>
            <a:ext cx="2103120" cy="347472"/>
          </a:xfrm>
          <a:prstGeom prst="roundRect">
            <a:avLst>
              <a:gd name="adj" fmla="val 8000"/>
            </a:avLst>
          </a:prstGeom>
          <a:solidFill>
            <a:srgbClr val="0B6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이미 되고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920240"/>
            <a:ext cx="2606040" cy="265176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651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217627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60">
                <a:solidFill>
                  <a:srgbClr val="0B6E5F"/>
                </a:solidFill>
                <a:latin typeface="Menlo"/>
              </a:rPr>
              <a:t>응시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46888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1715"/>
                </a:solidFill>
                <a:latin typeface="Apple SD Gothic Neo"/>
              </a:rPr>
              <a:t>시험은 로컬 데이터로만 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3310128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네트워크 호출이 시험 진행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경로에 존재하지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5032" y="4069080"/>
            <a:ext cx="2103120" cy="347472"/>
          </a:xfrm>
          <a:prstGeom prst="roundRect">
            <a:avLst>
              <a:gd name="adj" fmla="val 8000"/>
            </a:avLst>
          </a:prstGeom>
          <a:solidFill>
            <a:srgbClr val="0B6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이미 되고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920240"/>
            <a:ext cx="2606040" cy="265176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651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17627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60">
                <a:solidFill>
                  <a:srgbClr val="0B6E5F"/>
                </a:solidFill>
                <a:latin typeface="Menlo"/>
              </a:rPr>
              <a:t>회수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46888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1715"/>
                </a:solidFill>
                <a:latin typeface="Apple SD Gothic Neo"/>
              </a:rPr>
              <a:t>끝나면 자동으로 올라간다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3310128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사람이 버튼을 누르지 않는다.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회선이 살면 알아서.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28232" y="4069080"/>
            <a:ext cx="2103120" cy="347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0B6E5F"/>
                </a:solidFill>
                <a:latin typeface="Apple SD Gothic Neo"/>
              </a:rPr>
              <a:t>이번에 만든다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1920240"/>
            <a:ext cx="2606040" cy="265176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651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1432" y="2176272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60">
                <a:solidFill>
                  <a:srgbClr val="0B6E5F"/>
                </a:solidFill>
                <a:latin typeface="Menlo"/>
              </a:rPr>
              <a:t>범위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2" y="246888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1715"/>
                </a:solidFill>
                <a:latin typeface="Apple SD Gothic Neo"/>
              </a:rPr>
              <a:t>녹음 파일까지 전부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3310128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Speaking webm 이 Storage 에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얹히고 행에 연결된다.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71432" y="4069080"/>
            <a:ext cx="2103120" cy="347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0B6E5F"/>
                </a:solidFill>
                <a:latin typeface="Apple SD Gothic Neo"/>
              </a:rPr>
              <a:t>이번에 만든다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10789920" cy="86868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101715"/>
                </a:solidFill>
                <a:latin typeface="Apple SD Gothic Neo"/>
              </a:rPr>
              <a:t>“끝나면 자동”의 정확한 뜻은 </a:t>
            </a:r>
            <a:r>
              <a:rPr sz="1300" b="1">
                <a:solidFill>
                  <a:srgbClr val="0B6E5F"/>
                </a:solidFill>
                <a:latin typeface="Apple SD Gothic Neo"/>
              </a:rPr>
              <a:t>“회선이 살아 있으면 즉시, 없으면 살아나는 첫 순간”</a:t>
            </a:r>
            <a:r>
              <a:rPr sz="1300" b="0">
                <a:solidFill>
                  <a:srgbClr val="101715"/>
                </a:solidFill>
                <a:latin typeface="Apple SD Gothic Neo"/>
              </a:rPr>
              <a:t>이다.
시험 직후일 수도, 그날 밤 그 PC 를 다시 켰을 때일 수도 있다. 사람이 개입하지 않는다는 점은 같다.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GIVEN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확정된 전제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42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DA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084831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60">
                <a:solidFill>
                  <a:srgbClr val="0B6E5F"/>
                </a:solidFill>
                <a:latin typeface="Menlo"/>
              </a:rPr>
              <a:t>회선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77440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1715"/>
                </a:solidFill>
                <a:latin typeface="Apple SD Gothic Neo"/>
              </a:rPr>
              <a:t>인터넷은 있다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1715"/>
                </a:solidFill>
                <a:latin typeface="Apple SD Gothic Neo"/>
              </a:rPr>
              <a:t>— 시험 중에만 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200400"/>
            <a:ext cx="2880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E5A57"/>
                </a:solidFill>
                <a:latin typeface="Apple SD Gothic Neo"/>
              </a:rPr>
              <a:t>부정행위 방지를 위한 차단이지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E5A57"/>
                </a:solidFill>
                <a:latin typeface="Apple SD Gothic Neo"/>
              </a:rPr>
              <a:t>회선 부재가 아니다.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E5A57"/>
                </a:solidFill>
                <a:latin typeface="Apple SD Gothic Neo"/>
              </a:rPr>
              <a:t>→ 교실 서버는 필요 없다.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828800"/>
            <a:ext cx="342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DA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084831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60">
                <a:solidFill>
                  <a:srgbClr val="0B6E5F"/>
                </a:solidFill>
                <a:latin typeface="Menlo"/>
              </a:rPr>
              <a:t>단말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2377440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1715"/>
                </a:solidFill>
                <a:latin typeface="Apple SD Gothic Neo"/>
              </a:rPr>
              <a:t>학원 공용 PC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1715"/>
                </a:solidFill>
                <a:latin typeface="Apple SD Gothic Neo"/>
              </a:rPr>
              <a:t>· 다음 반이 바로 들어온다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3200400"/>
            <a:ext cx="2880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E5A57"/>
                </a:solidFill>
                <a:latin typeface="Apple SD Gothic Neo"/>
              </a:rPr>
              <a:t>회수 시간이 넉넉하지 않고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E5A57"/>
                </a:solidFill>
                <a:latin typeface="Apple SD Gothic Neo"/>
              </a:rPr>
              <a:t>PC 에 앞 반 데이터가 남으면 안 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E5A57"/>
                </a:solidFill>
                <a:latin typeface="Apple SD Gothic Neo"/>
              </a:rPr>
              <a:t>게스트 모드 여부는 확인 중.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5" y="1828800"/>
            <a:ext cx="342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DA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3" y="2084831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60">
                <a:solidFill>
                  <a:srgbClr val="0B6E5F"/>
                </a:solidFill>
                <a:latin typeface="Menlo"/>
              </a:rPr>
              <a:t>용량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0183" y="2377440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1715"/>
                </a:solidFill>
                <a:latin typeface="Apple SD Gothic Neo"/>
              </a:rPr>
              <a:t>녹음은 작다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1715"/>
                </a:solidFill>
                <a:latin typeface="Apple SD Gothic Neo"/>
              </a:rPr>
              <a:t>— 병목이 아니다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3200400"/>
            <a:ext cx="2880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E5A57"/>
                </a:solidFill>
                <a:latin typeface="Apple SD Gothic Neo"/>
              </a:rPr>
              <a:t>1인 5분 10초, 2.5–5 MB.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E5A57"/>
                </a:solidFill>
                <a:latin typeface="Apple SD Gothic Neo"/>
              </a:rPr>
              <a:t>30명이면 75–150 MB.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E5A57"/>
                </a:solidFill>
                <a:latin typeface="Apple SD Gothic Neo"/>
              </a:rPr>
              <a:t>판단 근거에서 제외해도 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3484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DA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59943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spc="100">
                <a:solidFill>
                  <a:srgbClr val="78837F"/>
                </a:solidFill>
                <a:latin typeface="Menlo"/>
              </a:rPr>
              <a:t>1인 녹음 시간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2803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101715"/>
                </a:solidFill>
                <a:latin typeface="Apple SD Gothic Neo"/>
              </a:rPr>
              <a:t>5분 10초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755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4E5A57"/>
                </a:solidFill>
                <a:latin typeface="Apple SD Gothic Neo"/>
              </a:rPr>
              <a:t>SR 12문항 + Interview 4문항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443484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DA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459943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spc="100">
                <a:solidFill>
                  <a:srgbClr val="78837F"/>
                </a:solidFill>
                <a:latin typeface="Menlo"/>
              </a:rPr>
              <a:t>1인 용량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82803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101715"/>
                </a:solidFill>
                <a:latin typeface="Apple SD Gothic Neo"/>
              </a:rPr>
              <a:t>2.5–5 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51755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4E5A57"/>
                </a:solidFill>
                <a:latin typeface="Apple SD Gothic Neo"/>
              </a:rPr>
              <a:t>Opus, 브라우저 기본 비트레이트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3484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DA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59943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spc="100">
                <a:solidFill>
                  <a:srgbClr val="78837F"/>
                </a:solidFill>
                <a:latin typeface="Menlo"/>
              </a:rPr>
              <a:t>30명 총량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82803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101715"/>
                </a:solidFill>
                <a:latin typeface="Apple SD Gothic Neo"/>
              </a:rPr>
              <a:t>75–150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1755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4E5A57"/>
                </a:solidFill>
                <a:latin typeface="Apple SD Gothic Neo"/>
              </a:rPr>
              <a:t>답안 텍스트는 무시해도 될 크기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43484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DA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0" y="459943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spc="100">
                <a:solidFill>
                  <a:srgbClr val="78837F"/>
                </a:solidFill>
                <a:latin typeface="Menlo"/>
              </a:rPr>
              <a:t>업로드 소요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482803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101715"/>
                </a:solidFill>
                <a:latin typeface="Apple SD Gothic Neo"/>
              </a:rPr>
              <a:t>2–3분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51755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4E5A57"/>
                </a:solidFill>
                <a:latin typeface="Apple SD Gothic Neo"/>
              </a:rPr>
              <a:t>업링크 10 Mbps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숫자가 이렇게 나오는 이상 설계 질문은 “어떻게 옮길 것인가”가 아니라 “누가, 언제 올리는 버튼을 누르는가” 하나로 좁혀진다.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ALREADY 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회선과 무관한 실행 — 이미 서 있는 부분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E5A57"/>
                </a:solidFill>
                <a:latin typeface="Apple SD Gothic Neo"/>
              </a:rPr>
              <a:t>sw.js 가 앱 셸을 통째로 프리캐시하고, 문항·오디오·타이밍이 전부 번들되어 있다. 확인하고 지킬 대상이지 개발 대상이 아니다.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6858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78837F"/>
                </a:solidFill>
                <a:latin typeface="Menlo"/>
              </a:rPr>
              <a:t>시험 진행에 필요한 것 — 전부 PC 안에 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23160"/>
            <a:ext cx="7498079" cy="2057400"/>
          </a:xfrm>
          <a:prstGeom prst="roundRect">
            <a:avLst>
              <a:gd name="adj" fmla="val 8000"/>
            </a:avLst>
          </a:prstGeom>
          <a:noFill/>
          <a:ln w="1778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6112" y="269748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앱 셸 (HTML·CSS·JS)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9192" y="269748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문항 데이터 set9.js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269748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리스닝 오디오 mp3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2697480"/>
            <a:ext cx="1737360" cy="50292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타이밍 config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3337560"/>
            <a:ext cx="3474720" cy="50292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답안 저장 — localStorage · IndexedDB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07992" y="3337560"/>
            <a:ext cx="3474720" cy="50292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잠정 채점 — 정답 키 해시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0233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0B6E5F"/>
                </a:solidFill>
                <a:latin typeface="Apple SD Gothic Neo"/>
              </a:rPr>
              <a:t>이 상자 안에서 시험이 처음부터 끝까지 완결된다 — 네트워크 호출 0회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83879" y="3291840"/>
            <a:ext cx="640081" cy="0"/>
          </a:xfrm>
          <a:prstGeom prst="line">
            <a:avLst/>
          </a:prstGeom>
          <a:ln w="30480">
            <a:solidFill>
              <a:srgbClr val="0B6E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92440" y="3017520"/>
            <a:ext cx="868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1">
                <a:solidFill>
                  <a:srgbClr val="0B6E5F"/>
                </a:solidFill>
                <a:latin typeface="Apple SD Gothic Neo"/>
              </a:rPr>
              <a:t>시험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2651760"/>
            <a:ext cx="2651760" cy="128016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905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F"/>
                </a:solidFill>
                <a:latin typeface="Apple SD Gothic Neo"/>
              </a:rPr>
              <a:t>네트워크가 하는 유일한 일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0B6E5F"/>
                </a:solidFill>
                <a:latin typeface="Apple SD Gothic Neo"/>
              </a:rPr>
              <a:t>답안 · 녹음 업로드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0B6E5F"/>
                </a:solidFill>
                <a:latin typeface="Apple SD Gothic Neo"/>
              </a:rPr>
              <a:t>확정 재채점 요청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네트워크는 시험이 끝난 뒤에만 등장한다. 이 경계가 유지되는 한 회선 상태가 시험 결과에 영향을 줄 경로 자체가 없다.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STORAGE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저장은 세 겹으로 — 게스트 모드에 걸리지 않는 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4E5A57"/>
                </a:solidFill>
                <a:latin typeface="Apple SD Gothic Neo"/>
              </a:rPr>
              <a:t>게스트 모드면 세션 종료 시 브라우저 저장소가 사라진다. 해법은 하나 — 브라우저 저장소 한 곳에만 의존하지 않는 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788920"/>
            <a:ext cx="1600200" cy="86868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 w="1778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01715"/>
                </a:solidFill>
                <a:latin typeface="Apple SD Gothic Neo"/>
              </a:rPr>
              <a:t>답안 1건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78837F"/>
                </a:solidFill>
                <a:latin typeface="Apple SD Gothic Neo"/>
              </a:rPr>
              <a:t>+ 녹음 blob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286000" y="2441448"/>
            <a:ext cx="594360" cy="777240"/>
          </a:xfrm>
          <a:prstGeom prst="line">
            <a:avLst/>
          </a:prstGeom>
          <a:ln w="1524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2057400"/>
            <a:ext cx="3794760" cy="777240"/>
          </a:xfrm>
          <a:prstGeom prst="roundRect">
            <a:avLst>
              <a:gd name="adj" fmla="val 8000"/>
            </a:avLst>
          </a:prstGeom>
          <a:solidFill>
            <a:srgbClr val="F5E3E2"/>
          </a:solidFill>
          <a:ln w="16510">
            <a:solidFill>
              <a:srgbClr val="A32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A32E28"/>
                </a:solidFill>
                <a:latin typeface="Apple SD Gothic Neo"/>
              </a:rPr>
              <a:t>① 브라우저 저장소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A32E28"/>
                </a:solidFill>
                <a:latin typeface="Apple SD Gothic Neo"/>
              </a:rPr>
              <a:t>localStorage · IndexedDB — 항상 · 이미 구현됨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167128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A32E28"/>
                </a:solidFill>
                <a:latin typeface="Apple SD Gothic Neo"/>
              </a:rPr>
              <a:t>게스트 모드 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441448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4E5A57"/>
                </a:solidFill>
                <a:latin typeface="Apple SD Gothic Neo"/>
              </a:rPr>
              <a:t>세션 종료 시 소멸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86000" y="3218688"/>
            <a:ext cx="594360" cy="164591"/>
          </a:xfrm>
          <a:prstGeom prst="line">
            <a:avLst/>
          </a:prstGeom>
          <a:ln w="1524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999232"/>
            <a:ext cx="3794760" cy="77724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651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F"/>
                </a:solidFill>
                <a:latin typeface="Apple SD Gothic Neo"/>
              </a:rPr>
              <a:t>② 디스크 폴더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0B6E5F"/>
                </a:solidFill>
                <a:latin typeface="Apple SD Gothic Neo"/>
              </a:rPr>
              <a:t>File System Access — 시작 시 폴더 1회 선택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31089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0B6E5F"/>
                </a:solidFill>
                <a:latin typeface="Apple SD Gothic Neo"/>
              </a:rPr>
              <a:t>게스트 모드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383279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4E5A57"/>
                </a:solidFill>
                <a:latin typeface="Apple SD Gothic Neo"/>
              </a:rPr>
              <a:t>Chrome · Edge · USB 가능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86000" y="3218688"/>
            <a:ext cx="594360" cy="1106424"/>
          </a:xfrm>
          <a:prstGeom prst="line">
            <a:avLst/>
          </a:prstGeom>
          <a:ln w="1524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941063"/>
            <a:ext cx="3794760" cy="77724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651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F"/>
                </a:solidFill>
                <a:latin typeface="Apple SD Gothic Neo"/>
              </a:rPr>
              <a:t>③ 종료 시 내보내기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0B6E5F"/>
                </a:solidFill>
                <a:latin typeface="Apple SD Gothic Neo"/>
              </a:rPr>
              <a:t>다운로드 폴더에 답안 + 녹음 1파일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4050791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0B6E5F"/>
                </a:solidFill>
                <a:latin typeface="Apple SD Gothic Neo"/>
              </a:rPr>
              <a:t>게스트 모드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4325112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4E5A57"/>
                </a:solidFill>
                <a:latin typeface="Apple SD Gothic Neo"/>
              </a:rPr>
              <a:t>모든 브라우저 · 파일은 남는다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549640" y="2441448"/>
            <a:ext cx="594360" cy="1197864"/>
          </a:xfrm>
          <a:prstGeom prst="line">
            <a:avLst/>
          </a:prstGeom>
          <a:ln w="13970">
            <a:solidFill>
              <a:srgbClr val="D2DAD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549640" y="3383280"/>
            <a:ext cx="594360" cy="256032"/>
          </a:xfrm>
          <a:prstGeom prst="line">
            <a:avLst/>
          </a:prstGeom>
          <a:ln w="19050">
            <a:solidFill>
              <a:srgbClr val="0B6E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8549640" y="3639312"/>
            <a:ext cx="594360" cy="685800"/>
          </a:xfrm>
          <a:prstGeom prst="line">
            <a:avLst/>
          </a:prstGeom>
          <a:ln w="19050">
            <a:solidFill>
              <a:srgbClr val="0B6E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44000" y="3383280"/>
            <a:ext cx="1188720" cy="77724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 w="1651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01715"/>
                </a:solidFill>
                <a:latin typeface="Apple SD Gothic Neo"/>
              </a:rPr>
              <a:t>회수기</a:t>
            </a:r>
          </a:p>
          <a:p>
            <a:pPr algn="ctr">
              <a:lnSpc>
                <a:spcPct val="125000"/>
              </a:lnSpc>
            </a:pPr>
            <a:r>
              <a:rPr sz="900" b="0">
                <a:solidFill>
                  <a:srgbClr val="78837F"/>
                </a:solidFill>
                <a:latin typeface="Apple SD Gothic Neo"/>
              </a:rPr>
              <a:t>앱 시작 시 자동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32720" y="3767328"/>
            <a:ext cx="502920" cy="0"/>
          </a:xfrm>
          <a:prstGeom prst="line">
            <a:avLst/>
          </a:prstGeom>
          <a:ln w="30480">
            <a:solidFill>
              <a:srgbClr val="0B6E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835640" y="3520440"/>
            <a:ext cx="640080" cy="50292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778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0B6E5F"/>
                </a:solidFill>
                <a:latin typeface="Apple SD Gothic Neo"/>
              </a:rPr>
              <a:t>Supa</a:t>
            </a:r>
          </a:p>
          <a:p>
            <a:pPr algn="ctr">
              <a:lnSpc>
                <a:spcPct val="125000"/>
              </a:lnSpc>
            </a:pPr>
            <a:r>
              <a:rPr sz="900" b="1">
                <a:solidFill>
                  <a:srgbClr val="0B6E5F"/>
                </a:solidFill>
                <a:latin typeface="Apple SD Gothic Neo"/>
              </a:rPr>
              <a:t>base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074920"/>
            <a:ext cx="10789920" cy="77724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524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54864" bIns="54864"/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F"/>
                </a:solidFill>
                <a:latin typeface="Apple SD Gothic Neo"/>
              </a:rPr>
              <a:t>저장은 세 겹, 업로드는 한 곳 — 어느 겹에 남아 있든 회수기가 찾아서 같은 곳으로 올린다.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PC 관리 정책이 어느 쪽으로 결론 나도 설계를 다시 짤 필요가 없다는 것이 이 구조의 요점이다.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게스트 모드에서는 ①만 사라진다. ②·③ 중 하나만 살아 있으면 답안은 전부 회수된다.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게스트 모드를 푸는 쪽이 언제나 더 싸다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E5A57"/>
                </a:solidFill>
                <a:latin typeface="Apple SD Gothic Neo"/>
              </a:rPr>
              <a:t>저장 3중화는 어느 경우에도 유효한 보험이다. 그와 별개로, 아래 순서대로 확인하면 문제 자체가 사라질 수 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48840"/>
          <a:ext cx="10789920" cy="3163824"/>
        </p:xfrm>
        <a:graphic>
          <a:graphicData uri="http://schemas.openxmlformats.org/drawingml/2006/table">
            <a:tbl>
              <a:tblPr firstRow="0" bandRow="0"/>
              <a:tblGrid>
                <a:gridCol w="640080"/>
                <a:gridCol w="2194560"/>
                <a:gridCol w="1005840"/>
                <a:gridCol w="6949440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순위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방법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비용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내용과 조건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0B6E5F"/>
                          </a:solidFill>
                          <a:latin typeface="Apple SD Gothic Neo"/>
                        </a:rPr>
                        <a:t>시험용 브라우저
프로필 예외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코드 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게스트 모드는 기술 제약이 아니라 PC 관리 정책이다. 시험용 Chrome 프로필 하나만
일반 모드로 예외 처리하면 문제 자체가 사라진다. IT 담당에게 먼저 물어볼 것.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0B6E5F"/>
                          </a:solidFill>
                          <a:latin typeface="Apple SD Gothic Neo"/>
                        </a:rPr>
                        <a:t>시험 중 Supabase 만
화이트리스트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코드 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방화벽에서 *.supabase.co 만 열고 나머지를 막는다. 부정행위 방지는 그대로면서
답안이 시험 중 실시간으로 올라가 저장소 문제가 통째로 소멸한다.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8A6410"/>
                          </a:solidFill>
                          <a:latin typeface="Apple SD Gothic Neo"/>
                        </a:rPr>
                        <a:t>디스크 폴더 저장
(계층 ②)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코드 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시작 화면에서 폴더를 1회 선택하면 이후 디스크에 직접 쓴다. USB 도 된다.
Chrome · Edge 전용이며, 시크릿 모드 제약 여부는 실제 PC 확인이 필요하다.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A32E28"/>
                          </a:solidFill>
                          <a:latin typeface="Apple SD Gothic Neo"/>
                        </a:rPr>
                        <a:t>데스크톱 앱
(Electron · Tauri)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코드 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브라우저 정책과 완전히 무관해진다. 확실하지만 개발·배포·업데이트 비용이
위 셋과 자릿수가 다르다. 1~3 이 전부 막혔을 때만.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" y="5532120"/>
            <a:ext cx="10789920" cy="658368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524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54864" bIns="54864"/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F"/>
                </a:solidFill>
                <a:latin typeface="Apple SD Gothic Neo"/>
              </a:rPr>
              <a:t>계층 ③(종료 시 내보내기)은 어느 경로로 가든 넣는다 — downloadExport() 가 이미 절반 구현되어 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RECORDINGS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녹음 파일이 가는 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E5A57"/>
                </a:solidFill>
                <a:latin typeface="Apple SD Gothic Neo"/>
              </a:rPr>
              <a:t>녹음은 답안보다 늦게, 답안과 다른 곳에 얹힌다. 크기 때문이 아니라 실패해도 답안은 살아야 하기 때문이다.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78837F"/>
                </a:solidFill>
                <a:latin typeface="Menlo"/>
              </a:rPr>
              <a:t>오프라인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1945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78837F"/>
                </a:solidFill>
                <a:latin typeface="Menlo"/>
              </a:rPr>
              <a:t>회선 개통 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87168"/>
            <a:ext cx="16002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01715"/>
                </a:solidFill>
                <a:latin typeface="Apple SD Gothic Neo"/>
              </a:rPr>
              <a:t>MediaRecorder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78837F"/>
                </a:solidFill>
                <a:latin typeface="Apple SD Gothic Neo"/>
              </a:rPr>
              <a:t>webm · opus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2487168"/>
            <a:ext cx="1783080" cy="82296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 w="1524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01715"/>
                </a:solidFill>
                <a:latin typeface="Apple SD Gothic Neo"/>
              </a:rPr>
              <a:t>IndexedDB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78837F"/>
                </a:solidFill>
                <a:latin typeface="Apple SD Gothic Neo"/>
              </a:rPr>
              <a:t>키 = session / qid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2487168"/>
            <a:ext cx="16002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01715"/>
                </a:solidFill>
                <a:latin typeface="Apple SD Gothic Neo"/>
              </a:rPr>
              <a:t>base64 변환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78837F"/>
                </a:solidFill>
                <a:latin typeface="Apple SD Gothic Neo"/>
              </a:rPr>
              <a:t>업로드 직전에만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86000" y="2898648"/>
            <a:ext cx="320040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389120" y="2898648"/>
            <a:ext cx="320040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09360" y="2898648"/>
            <a:ext cx="411480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720840" y="2395728"/>
            <a:ext cx="2834640" cy="100584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905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F"/>
                </a:solidFill>
                <a:latin typeface="Apple SD Gothic Neo"/>
              </a:rPr>
              <a:t>Supabase Storage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0B6E5F"/>
                </a:solidFill>
                <a:latin typeface="Apple SD Gothic Neo"/>
              </a:rPr>
              <a:t>&lt;uid&gt;/&lt;attempt&gt;/&lt;qid&gt;.webm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0B6E5F"/>
                </a:solidFill>
                <a:latin typeface="Apple SD Gothic Neo"/>
              </a:rPr>
              <a:t>비공개 버킷 · 본인 폴더만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55480" y="2898648"/>
            <a:ext cx="411480" cy="0"/>
          </a:xfrm>
          <a:prstGeom prst="line">
            <a:avLst/>
          </a:prstGeom>
          <a:ln w="17780">
            <a:solidFill>
              <a:srgbClr val="0B6E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966960" y="2487168"/>
            <a:ext cx="1508760" cy="82296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778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B6E5F"/>
                </a:solidFill>
                <a:latin typeface="Apple SD Gothic Neo"/>
              </a:rPr>
              <a:t>toefl_submissions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0B6E5F"/>
                </a:solidFill>
                <a:latin typeface="Apple SD Gothic Neo"/>
              </a:rPr>
              <a:t>storage_path 연결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38160" y="3401568"/>
            <a:ext cx="0" cy="758952"/>
          </a:xfrm>
          <a:prstGeom prst="line">
            <a:avLst/>
          </a:prstGeom>
          <a:ln w="16510">
            <a:solidFill>
              <a:srgbClr val="A32E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949440" y="4160520"/>
            <a:ext cx="1188720" cy="0"/>
          </a:xfrm>
          <a:prstGeom prst="line">
            <a:avLst/>
          </a:prstGeom>
          <a:ln w="16510">
            <a:solidFill>
              <a:srgbClr val="A32E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206240" y="3913632"/>
            <a:ext cx="2743200" cy="502920"/>
          </a:xfrm>
          <a:prstGeom prst="roundRect">
            <a:avLst>
              <a:gd name="adj" fmla="val 8000"/>
            </a:avLst>
          </a:prstGeom>
          <a:solidFill>
            <a:srgbClr val="F5E3E2"/>
          </a:solidFill>
          <a:ln w="15240">
            <a:solidFill>
              <a:srgbClr val="A32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A32E28"/>
                </a:solidFill>
                <a:latin typeface="Apple SD Gothic Neo"/>
              </a:rPr>
              <a:t>3회 실패 → 녹음만 미제출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233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A32E28"/>
                </a:solidFill>
                <a:latin typeface="Apple SD Gothic Neo"/>
              </a:rPr>
              <a:t>답안 텍스트는 이미 올라가 있다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474720" y="3310128"/>
            <a:ext cx="0" cy="1627632"/>
          </a:xfrm>
          <a:prstGeom prst="line">
            <a:avLst/>
          </a:prstGeom>
          <a:ln w="16510">
            <a:solidFill>
              <a:srgbClr val="8A6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474720" y="4937760"/>
            <a:ext cx="685800" cy="0"/>
          </a:xfrm>
          <a:prstGeom prst="line">
            <a:avLst/>
          </a:prstGeom>
          <a:ln w="16510">
            <a:solidFill>
              <a:srgbClr val="8A641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160520" y="4681728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F3ECDC"/>
          </a:solidFill>
          <a:ln w="15240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8A6410"/>
                </a:solidFill>
                <a:latin typeface="Apple SD Gothic Neo"/>
              </a:rPr>
              <a:t>종료 시 내보내기 파일에도 동봉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79145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8A6410"/>
                </a:solidFill>
                <a:latin typeface="Apple SD Gothic Neo"/>
              </a:rPr>
              <a:t>← 지금 빠져 있는 부분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녹음은 가장 마지막에 올라간다. 답안이 먼저 안착한 뒤라야 녹음 실패가 “녹음만 미제출”로 좁혀진다.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회수창 — 시험 종료 후 3분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E5A57"/>
                </a:solidFill>
                <a:latin typeface="Apple SD Gothic Neo"/>
              </a:rPr>
              <a:t>업로드는 앱이 떠 있는 동안에만 돈다. 학생이 창을 닫고 나가면 그 답안은 잠든다.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703320"/>
            <a:ext cx="10698480" cy="0"/>
          </a:xfrm>
          <a:prstGeom prst="line">
            <a:avLst/>
          </a:prstGeom>
          <a:ln w="19050">
            <a:solidFill>
              <a:srgbClr val="D2DA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77240" y="224028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 w="14604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01715"/>
                </a:solidFill>
                <a:latin typeface="Apple SD Gothic Neo"/>
              </a:rPr>
              <a:t>시험 중 — 인터넷 차단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답안·녹음이 로컬 큐에 쌓인다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업로드 시도 0회 · 시험에 영향 0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3639312"/>
            <a:ext cx="128016" cy="128016"/>
          </a:xfrm>
          <a:prstGeom prst="ellipse">
            <a:avLst/>
          </a:prstGeom>
          <a:solidFill>
            <a:srgbClr val="10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38404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78837F"/>
                </a:solidFill>
                <a:latin typeface="Apple SD Gothic Neo"/>
              </a:rPr>
              <a:t>시작</a:t>
            </a:r>
          </a:p>
        </p:txBody>
      </p:sp>
      <p:sp>
        <p:nvSpPr>
          <p:cNvPr id="11" name="Oval 10"/>
          <p:cNvSpPr/>
          <p:nvPr/>
        </p:nvSpPr>
        <p:spPr>
          <a:xfrm>
            <a:off x="4233672" y="3621024"/>
            <a:ext cx="164592" cy="164592"/>
          </a:xfrm>
          <a:prstGeom prst="ellipse">
            <a:avLst/>
          </a:prstGeom>
          <a:solidFill>
            <a:srgbClr val="10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384048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1">
                <a:solidFill>
                  <a:srgbClr val="101715"/>
                </a:solidFill>
                <a:latin typeface="Apple SD Gothic Neo"/>
              </a:rPr>
              <a:t>종료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40690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78837F"/>
                </a:solidFill>
                <a:latin typeface="Apple SD Gothic Neo"/>
              </a:rPr>
              <a:t>감독관이 회선을 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2121408"/>
            <a:ext cx="3657600" cy="146304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2286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F"/>
                </a:solidFill>
                <a:latin typeface="Apple SD Gothic Neo"/>
              </a:rPr>
              <a:t>회수창 — 2~3분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0B6E5F"/>
                </a:solidFill>
                <a:latin typeface="Apple SD Gothic Neo"/>
              </a:rPr>
              <a:t>답안 먼저, 녹음이 뒤따라 올라간다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0B6E5F"/>
                </a:solidFill>
                <a:latin typeface="Apple SD Gothic Neo"/>
              </a:rPr>
              <a:t>지난 반의 잔여 큐도 이때 같이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0B6E5F"/>
                </a:solidFill>
                <a:latin typeface="Apple SD Gothic Neo"/>
              </a:rPr>
              <a:t>화면: “업로드 28 / 31 … 완료”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17720" y="3703320"/>
            <a:ext cx="3657600" cy="0"/>
          </a:xfrm>
          <a:prstGeom prst="line">
            <a:avLst/>
          </a:prstGeom>
          <a:ln w="57150">
            <a:solidFill>
              <a:srgbClr val="0B6E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8421624" y="3621024"/>
            <a:ext cx="164592" cy="164592"/>
          </a:xfrm>
          <a:prstGeom prst="ellipse">
            <a:avLst/>
          </a:prstGeom>
          <a:solidFill>
            <a:srgbClr val="0B6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384048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1">
                <a:solidFill>
                  <a:srgbClr val="0B6E5F"/>
                </a:solidFill>
                <a:latin typeface="Apple SD Gothic Neo"/>
              </a:rPr>
              <a:t>완료 게이트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06908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78837F"/>
                </a:solidFill>
                <a:latin typeface="Apple SD Gothic Neo"/>
              </a:rPr>
              <a:t>전원 초록이어야 해산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224028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 w="14604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01715"/>
                </a:solidFill>
                <a:latin typeface="Apple SD Gothic Neo"/>
              </a:rPr>
              <a:t>로컬 삭제 · 다음 반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확인된 회차만, 세 겹 전부에서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PC 에 앞 반 답안이 남지 않는다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11411712" y="3639312"/>
            <a:ext cx="128016" cy="128016"/>
          </a:xfrm>
          <a:prstGeom prst="ellipse">
            <a:avLst/>
          </a:prstGeom>
          <a:solidFill>
            <a:srgbClr val="10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7406640" y="3703320"/>
            <a:ext cx="0" cy="1097280"/>
          </a:xfrm>
          <a:prstGeom prst="line">
            <a:avLst/>
          </a:prstGeom>
          <a:ln w="16510">
            <a:solidFill>
              <a:srgbClr val="8A6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446520" y="4800600"/>
            <a:ext cx="960120" cy="0"/>
          </a:xfrm>
          <a:prstGeom prst="line">
            <a:avLst/>
          </a:prstGeom>
          <a:ln w="16510">
            <a:solidFill>
              <a:srgbClr val="8A641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651760" y="4572000"/>
            <a:ext cx="3794760" cy="502920"/>
          </a:xfrm>
          <a:prstGeom prst="roundRect">
            <a:avLst>
              <a:gd name="adj" fmla="val 8000"/>
            </a:avLst>
          </a:prstGeom>
          <a:solidFill>
            <a:srgbClr val="F3ECDC"/>
          </a:solidFill>
          <a:ln w="14604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8A6410"/>
                </a:solidFill>
                <a:latin typeface="Apple SD Gothic Neo"/>
              </a:rPr>
              <a:t>못 올린 PC → 다음 부팅 때 자동 회수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46817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A6410"/>
                </a:solidFill>
                <a:latin typeface="Apple SD Gothic Neo"/>
              </a:rPr>
              <a:t>시간이 모자라도 답안은 살아 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회수창이 지나도 로컬 데이터는 그대로다 — 삭제는 서버 확인 뒤에만 일어난다. 회수창은 목표지 마감이 아니다.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SHARED 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공용 PC의 진짜 문제 — 고아 아웃박스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E5A57"/>
                </a:solidFill>
                <a:latin typeface="Apple SD Gothic Neo"/>
              </a:rPr>
              <a:t>계정이 다르면 데이터가 섞이지는 않는다. exam-store.js 의 키가 세션별로 갈리기 때문이다.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4E5A57"/>
                </a:solidFill>
                <a:latin typeface="Apple SD Gothic Neo"/>
              </a:rPr>
              <a:t>문제는 업로드가 “현재 세션”만 본다는 것 — 앞 반 학생의 큐는 남은 채 아무도 읽지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78837F"/>
                </a:solidFill>
                <a:latin typeface="Menlo"/>
              </a:rPr>
              <a:t>지금 · 현재 세션만 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60320"/>
            <a:ext cx="2606040" cy="2148840"/>
          </a:xfrm>
          <a:prstGeom prst="roundRect">
            <a:avLst>
              <a:gd name="adj" fmla="val 8000"/>
            </a:avLst>
          </a:prstGeom>
          <a:noFill/>
          <a:ln w="14604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2491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01715"/>
                </a:solidFill>
                <a:latin typeface="Apple SD Gothic Neo"/>
              </a:rPr>
              <a:t>공용 PC 저장소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017520"/>
            <a:ext cx="2240280" cy="45720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01715"/>
                </a:solidFill>
                <a:latin typeface="Apple SD Gothic Neo"/>
              </a:rPr>
              <a:t>1교시 · 김○○ 세션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78837F"/>
                </a:solidFill>
                <a:latin typeface="Apple SD Gothic Neo"/>
              </a:rPr>
              <a:t>큐 11건 남음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547872"/>
            <a:ext cx="2240280" cy="45720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01715"/>
                </a:solidFill>
                <a:latin typeface="Apple SD Gothic Neo"/>
              </a:rPr>
              <a:t>2교시 · 박○○ 세션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78837F"/>
                </a:solidFill>
                <a:latin typeface="Apple SD Gothic Neo"/>
              </a:rPr>
              <a:t>큐 7건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078224"/>
            <a:ext cx="2240280" cy="45720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 w="1524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1715"/>
                </a:solidFill>
                <a:latin typeface="Apple SD Gothic Neo"/>
              </a:rPr>
              <a:t>3교시 · 이○○ 세션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78837F"/>
                </a:solidFill>
                <a:latin typeface="Apple SD Gothic Neo"/>
              </a:rPr>
              <a:t>← 지금 로그인한 학생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91840" y="4306824"/>
            <a:ext cx="685799" cy="0"/>
          </a:xfrm>
          <a:prstGeom prst="line">
            <a:avLst/>
          </a:prstGeom>
          <a:ln w="1778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310128" y="4041648"/>
            <a:ext cx="685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4E5A57"/>
                </a:solidFill>
                <a:latin typeface="Apple SD Gothic Neo"/>
              </a:rPr>
              <a:t>flush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407822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 w="1270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01715"/>
                </a:solidFill>
                <a:latin typeface="Apple SD Gothic Neo"/>
              </a:rPr>
              <a:t>Supabase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91840" y="3246120"/>
            <a:ext cx="457199" cy="0"/>
          </a:xfrm>
          <a:prstGeom prst="line">
            <a:avLst/>
          </a:prstGeom>
          <a:ln w="15240">
            <a:solidFill>
              <a:srgbClr val="A32E2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730752" y="3099815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32E28"/>
                </a:solidFill>
                <a:latin typeface="Apple SD Gothic Neo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1648" y="3127248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A32E28"/>
                </a:solidFill>
                <a:latin typeface="Apple SD Gothic Neo"/>
              </a:rPr>
              <a:t>고아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91840" y="3776472"/>
            <a:ext cx="457199" cy="0"/>
          </a:xfrm>
          <a:prstGeom prst="line">
            <a:avLst/>
          </a:prstGeom>
          <a:ln w="15240">
            <a:solidFill>
              <a:srgbClr val="A32E2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730752" y="363016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32E28"/>
                </a:solidFill>
                <a:latin typeface="Apple SD Gothic Neo"/>
              </a:rPr>
              <a:t>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365760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A32E28"/>
                </a:solidFill>
                <a:latin typeface="Apple SD Gothic Neo"/>
              </a:rPr>
              <a:t>고아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8463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앞 반 답안은 PC 에 남아만 있다. 그 학생 계정으로 이 PC 에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다시 들어와야 올라간다 — 사실상 불가능.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06440" y="2240280"/>
            <a:ext cx="0" cy="3200400"/>
          </a:xfrm>
          <a:prstGeom prst="line">
            <a:avLst/>
          </a:prstGeom>
          <a:ln w="12700">
            <a:solidFill>
              <a:srgbClr val="D2DA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09360" y="228600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0B6E5F"/>
                </a:solidFill>
                <a:latin typeface="Menlo"/>
              </a:rPr>
              <a:t>추가 · 시작 시 전체 세션을 훑는다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2560320"/>
            <a:ext cx="2606040" cy="2148840"/>
          </a:xfrm>
          <a:prstGeom prst="roundRect">
            <a:avLst>
              <a:gd name="adj" fmla="val 8000"/>
            </a:avLst>
          </a:prstGeom>
          <a:noFill/>
          <a:ln w="14604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72491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01715"/>
                </a:solidFill>
                <a:latin typeface="Apple SD Gothic Neo"/>
              </a:rPr>
              <a:t>공용 PC 저장소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3017520"/>
            <a:ext cx="2240280" cy="45720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01715"/>
                </a:solidFill>
                <a:latin typeface="Apple SD Gothic Neo"/>
              </a:rPr>
              <a:t>1교시 · 김○○ 세션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3547872"/>
            <a:ext cx="2240280" cy="45720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01715"/>
                </a:solidFill>
                <a:latin typeface="Apple SD Gothic Neo"/>
              </a:rPr>
              <a:t>2교시 · 박○○ 세션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4078224"/>
            <a:ext cx="2240280" cy="45720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 w="1524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1715"/>
                </a:solidFill>
                <a:latin typeface="Apple SD Gothic Neo"/>
              </a:rPr>
              <a:t>3교시 · 이○○ 세션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915400" y="3246120"/>
            <a:ext cx="1005840" cy="960120"/>
          </a:xfrm>
          <a:prstGeom prst="line">
            <a:avLst/>
          </a:prstGeom>
          <a:ln w="20320">
            <a:solidFill>
              <a:srgbClr val="0B6E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915400" y="3776472"/>
            <a:ext cx="1005840" cy="429768"/>
          </a:xfrm>
          <a:prstGeom prst="line">
            <a:avLst/>
          </a:prstGeom>
          <a:ln w="20320">
            <a:solidFill>
              <a:srgbClr val="0B6E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915400" y="4206240"/>
            <a:ext cx="1005840" cy="100584"/>
          </a:xfrm>
          <a:prstGeom prst="line">
            <a:avLst/>
          </a:prstGeom>
          <a:ln w="20320">
            <a:solidFill>
              <a:srgbClr val="0B6E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921240" y="3950208"/>
            <a:ext cx="1600200" cy="530352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778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F"/>
                </a:solidFill>
                <a:latin typeface="Apple SD Gothic Neo"/>
              </a:rPr>
              <a:t>Supabase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4590288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0B6E5F"/>
                </a:solidFill>
                <a:latin typeface="Apple SD Gothic Neo"/>
              </a:rPr>
              <a:t>남은 큐 전부가 함께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84632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회차 UUID 가 소유자를 들고 있으므로, 누가 로그인해 있든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각자 주인에게 귀속된다.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고칠 곳은 한 군데 — 업로드 대상을 “현재 세션”에서 “저장소에 남은 모든 미완료 회차”로 넓힌다. allKeys() 는 이미 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STATE MACHINE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답안 한 건의 일생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604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1715"/>
                </a:solidFill>
                <a:latin typeface="Apple SD Gothic Neo"/>
              </a:rPr>
              <a:t>로컬 저장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78837F"/>
                </a:solidFill>
                <a:latin typeface="Apple SD Gothic Neo"/>
              </a:rPr>
              <a:t>문항 입력 즉시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51760" y="2583180"/>
            <a:ext cx="384048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35808" y="214884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F3ECDC"/>
          </a:solidFill>
          <a:ln w="14604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A6410"/>
                </a:solidFill>
                <a:latin typeface="Apple SD Gothic Neo"/>
              </a:rPr>
              <a:t>전송 대기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8A6410"/>
                </a:solidFill>
                <a:latin typeface="Apple SD Gothic Neo"/>
              </a:rPr>
              <a:t>시험 내내 여기 머문다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01768" y="2583180"/>
            <a:ext cx="384048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385816" y="214884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604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1715"/>
                </a:solidFill>
                <a:latin typeface="Apple SD Gothic Neo"/>
              </a:rPr>
              <a:t>전송 중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78837F"/>
                </a:solidFill>
                <a:latin typeface="Apple SD Gothic Neo"/>
              </a:rPr>
              <a:t>회선 개통 감지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51775" y="2583180"/>
            <a:ext cx="384048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35823" y="214884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4604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F"/>
                </a:solidFill>
                <a:latin typeface="Apple SD Gothic Neo"/>
              </a:rPr>
              <a:t>동기화 완료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0B6E5F"/>
                </a:solidFill>
                <a:latin typeface="Apple SD Gothic Neo"/>
              </a:rPr>
              <a:t>답안 + 녹음 수신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701784" y="2583180"/>
            <a:ext cx="384048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085832" y="214884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2032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F"/>
                </a:solidFill>
                <a:latin typeface="Apple SD Gothic Neo"/>
              </a:rPr>
              <a:t>확정 채점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0B6E5F"/>
                </a:solidFill>
                <a:latin typeface="Apple SD Gothic Neo"/>
              </a:rPr>
              <a:t>서버 재채점 → 대시보드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1856231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4E5A57"/>
                </a:solidFill>
                <a:latin typeface="Apple SD Gothic Neo"/>
              </a:rPr>
              <a:t>online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1856231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4E5A57"/>
                </a:solidFill>
                <a:latin typeface="Apple SD Gothic Neo"/>
              </a:rPr>
              <a:t>2xx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0" y="3017520"/>
            <a:ext cx="0" cy="457200"/>
          </a:xfrm>
          <a:prstGeom prst="line">
            <a:avLst/>
          </a:prstGeom>
          <a:ln w="14604">
            <a:solidFill>
              <a:srgbClr val="10171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108960" y="3474720"/>
            <a:ext cx="2377440" cy="0"/>
          </a:xfrm>
          <a:prstGeom prst="line">
            <a:avLst/>
          </a:prstGeom>
          <a:ln w="14604">
            <a:solidFill>
              <a:srgbClr val="10171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108960" y="3017520"/>
            <a:ext cx="0" cy="457200"/>
          </a:xfrm>
          <a:prstGeom prst="line">
            <a:avLst/>
          </a:prstGeom>
          <a:ln w="14604">
            <a:solidFill>
              <a:srgbClr val="10171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200400" y="35295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4E5A57"/>
                </a:solidFill>
                <a:latin typeface="Apple SD Gothic Neo"/>
              </a:rPr>
              <a:t>일시 실패 → 백오프 1s · 2s · 4s (지터 포함)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26480" y="3017520"/>
            <a:ext cx="0" cy="1508760"/>
          </a:xfrm>
          <a:prstGeom prst="line">
            <a:avLst/>
          </a:prstGeom>
          <a:ln w="16510">
            <a:solidFill>
              <a:srgbClr val="A32E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26480" y="4526280"/>
            <a:ext cx="777240" cy="0"/>
          </a:xfrm>
          <a:prstGeom prst="line">
            <a:avLst/>
          </a:prstGeom>
          <a:ln w="16510">
            <a:solidFill>
              <a:srgbClr val="A32E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903720" y="4270248"/>
            <a:ext cx="2377440" cy="530352"/>
          </a:xfrm>
          <a:prstGeom prst="roundRect">
            <a:avLst>
              <a:gd name="adj" fmla="val 8000"/>
            </a:avLst>
          </a:prstGeom>
          <a:solidFill>
            <a:srgbClr val="F5E3E2"/>
          </a:solidFill>
          <a:ln w="14604">
            <a:solidFill>
              <a:srgbClr val="A32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A32E28"/>
                </a:solidFill>
                <a:latin typeface="Apple SD Gothic Neo"/>
              </a:rPr>
              <a:t>녹음만 미제출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4379976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A32E28"/>
                </a:solidFill>
                <a:latin typeface="Apple SD Gothic Neo"/>
              </a:rPr>
              <a:t>3회 실패 · 관리자 화면에 경보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0" y="3017520"/>
            <a:ext cx="0" cy="2331720"/>
          </a:xfrm>
          <a:prstGeom prst="line">
            <a:avLst/>
          </a:prstGeom>
          <a:ln w="17780">
            <a:solidFill>
              <a:srgbClr val="0B6E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977639" y="5349240"/>
            <a:ext cx="3337561" cy="0"/>
          </a:xfrm>
          <a:prstGeom prst="line">
            <a:avLst/>
          </a:prstGeom>
          <a:ln w="17780">
            <a:solidFill>
              <a:srgbClr val="0B6E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737360" y="5102352"/>
            <a:ext cx="2240280" cy="50292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524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0B6E5F"/>
                </a:solidFill>
                <a:latin typeface="Apple SD Gothic Neo"/>
              </a:rPr>
              <a:t>로컬 3겹 전부 삭제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20293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0B6E5F"/>
                </a:solidFill>
                <a:latin typeface="Apple SD Gothic Neo"/>
              </a:rPr>
              <a:t>공용 PC 위생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‘동기화 완료’는 답안과 녹음이 모두 확인된 뒤에만 찍히고, 그 뒤에야 로컬 세 겹이 정리된다.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SCORING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채점은 두 번 한다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4E5A57"/>
                </a:solidFill>
                <a:latin typeface="Apple SD Gothic Neo"/>
              </a:rPr>
              <a:t>“자동 채점이 끝났음을 선생님이 본다”는 요구는 둘로 쪼개야 한다 — 오프라인에서 즉시 나오는 잠정 점수와,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4E5A57"/>
                </a:solidFill>
                <a:latin typeface="Apple SD Gothic Neo"/>
              </a:rPr>
              <a:t>서버가 다시 계산한 확정 점수. 구분하지 않으면 정답 키를 학생 PC 에 두는 순간 점수의 신뢰가 무너진다.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78837F"/>
                </a:solidFill>
                <a:latin typeface="Menlo"/>
              </a:rPr>
              <a:t>오프라인 · 학생 단말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604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1715"/>
                </a:solidFill>
                <a:latin typeface="Apple SD Gothic Neo"/>
              </a:rPr>
              <a:t>잠정 채점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정답 키는 해시로만 번들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R · L · 문장배열 즉시 O/X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86200" y="3355848"/>
            <a:ext cx="548640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4760" y="3063240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4E5A57"/>
                </a:solidFill>
                <a:latin typeface="Apple SD Gothic Neo"/>
              </a:rPr>
              <a:t>동기화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6888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78837F"/>
                </a:solidFill>
                <a:latin typeface="Menlo"/>
              </a:rPr>
              <a:t>온라인 · 서버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78892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2032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F"/>
                </a:solidFill>
                <a:latin typeface="Apple SD Gothic Neo"/>
              </a:rPr>
              <a:t>확정 재채점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0B6E5F"/>
                </a:solidFill>
                <a:latin typeface="Apple SD Gothic Neo"/>
              </a:rPr>
              <a:t>원본 정답 키 (서버에만 존재)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0B6E5F"/>
                </a:solidFill>
                <a:latin typeface="Apple SD Gothic Neo"/>
              </a:rPr>
              <a:t>이 값이 성적표에 올라간다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26679" y="3355848"/>
            <a:ext cx="548641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275320" y="278892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604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1715"/>
                </a:solidFill>
                <a:latin typeface="Apple SD Gothic Neo"/>
              </a:rPr>
              <a:t>사람이 채점하는 것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Writing 본문 · Speaking 녹음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동기화 이후에만 가능 — 대기열로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80760" y="3931920"/>
            <a:ext cx="0" cy="731520"/>
          </a:xfrm>
          <a:prstGeom prst="line">
            <a:avLst/>
          </a:prstGeom>
          <a:ln w="15240">
            <a:solidFill>
              <a:srgbClr val="A32E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023360" y="4663440"/>
            <a:ext cx="2057400" cy="0"/>
          </a:xfrm>
          <a:prstGeom prst="line">
            <a:avLst/>
          </a:prstGeom>
          <a:ln w="15240">
            <a:solidFill>
              <a:srgbClr val="A32E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4407408"/>
            <a:ext cx="3337560" cy="530352"/>
          </a:xfrm>
          <a:prstGeom prst="roundRect">
            <a:avLst>
              <a:gd name="adj" fmla="val 8000"/>
            </a:avLst>
          </a:prstGeom>
          <a:solidFill>
            <a:srgbClr val="F5E3E2"/>
          </a:solidFill>
          <a:ln w="14604">
            <a:solidFill>
              <a:srgbClr val="A32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A32E28"/>
                </a:solidFill>
                <a:latin typeface="Apple SD Gothic Neo"/>
              </a:rPr>
              <a:t>두 점수 불일치 → 조작 의심 플래그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5262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A32E28"/>
                </a:solidFill>
                <a:latin typeface="Apple SD Gothic Neo"/>
              </a:rPr>
              <a:t>잠정 점수를 믿지 않아도 되는 이유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잠정 점수는 학생 즉시 피드백용이고, 성적표의 근거는 언제나 서버 재채점 값이다.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GAP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지금 코드베이스에서 빠진 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4E5A57"/>
                </a:solidFill>
                <a:latin typeface="Apple SD Gothic Neo"/>
              </a:rPr>
              <a:t>오프라인 실행 · 로컬 저장 · Outbox · 지수 백오프는 이미 서 있다. 구멍 일곱 개를 메우는 계획이다.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938528"/>
          <a:ext cx="10789920" cy="3858768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4206240"/>
                <a:gridCol w="4480560"/>
              </a:tblGrid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구멍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지금 상태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메우는 방법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선생님이 학생
답안을 못 본다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RLS 가 전부 auth.uid() = 본인 행만 허용.
교사·관리자 역할이 존재하지 않는다.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profiles(role) 과 교사·관리자용 SELECT 정책 추가.
요구사항의 핵심이 여기에 걸려 있다.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내보내기에
녹음이 빠져 있다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exportPayload() 가 meta·answers·events·outbox 만 담고
IndexedDB 녹음 blob 은 들어가지 않는다.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blob 을 base64 로 끼워 답안 + 녹음 한 파일로 만든다.
저장 계층 ③의 성립 조건.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고아 아웃박스가
방치된다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업로드가 현재 세션만 본다. 앞 반 학생의
미전송 큐는 아무도 읽지 않는다.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시작 시 저장소를 훑어 미완료 회차를 전부 큐에 올린다.
allKeys() 가 이미 있어 작업량이 작다.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업로드 완료를
확인할 화면이 없다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SG_SYNC.stats() 가 값을 내놓지만 아무도 안 그린다.
학생은 다 올라갔는지 모른 채 나간다.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종료 화면에 완료 게이트를, 감독관용으로 반 전체 현황판을.
회수창의 성립 조건.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공용 PC 에
앞 반 답안이 남는다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동기화 후에도 로컬 데이터가 그대로다.
다음 학생이 개발자도구로 꺼낼 수 있다.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서버 수신이 확인된 회차만, 저장 세 겹 전부에서 지운다.
삭제 조건을 서버 응답에 묶는다.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오프라인에는
auth.uid() 가 없다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익명 로그인은 인터넷을 요구한다. 녹음 경로의
&lt;uid&gt; 도 오프라인에서는 정해지지 않는다.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student_code + 단말 UUID 로 식별하고, 동기화 시점에
uid 를 채운 뒤 Storage 경로를 확정한다.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동기화 경로가
두 갈래다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exam-sync.js 는 /api/attempts/* 로,
app/js/sync.js 는 Supabase 로 직접 쏜다.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exam-sync.js 의 Outbox 를 정본으로 두고
전송 어댑터를 Supabase 하나로 정리한다.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확인 요청 — app/js/config.js 에 Supabase URL·anon 키가 평문 커밋되어 있다. 첫 번째 구멍(RLS)과 겹치면 이야기가 달라진다.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FAILURE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무엇이 어떻게 망가지고, 무엇으로 막는가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83080"/>
          <a:ext cx="10789920" cy="4480560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914400"/>
                <a:gridCol w="7040880"/>
              </a:tblGrid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사고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결과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방어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시험 중 인터넷이 아예 없다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0B6E5F"/>
                          </a:solidFill>
                          <a:latin typeface="Apple SD Gothic Neo"/>
                        </a:rPr>
                        <a:t>무해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정상 운영 시나리오다. 앱 셸·문항·오디오·채점이 전부 로컬이라 시험은 그대로 완결된다.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시험 중 브라우저·PC 가 죽는다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0B6E5F"/>
                          </a:solidFill>
                          <a:latin typeface="Apple SD Gothic Neo"/>
                        </a:rPr>
                        <a:t>무해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문항 입력마다 로컬에 기록되어 있다. 재시작하면 같은 문항에서 이어진다 — 이미 구현됨.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회수창 안에 다 못 올린다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0B6E5F"/>
                          </a:solidFill>
                          <a:latin typeface="Apple SD Gothic Neo"/>
                        </a:rPr>
                        <a:t>무해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남은 큐는 그대로 있다. 그 PC 를 다음에 켜면 회수기가 자동으로 마저 올린다.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PC 가 게스트 모드다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0B6E5F"/>
                          </a:solidFill>
                          <a:latin typeface="Apple SD Gothic Neo"/>
                        </a:rPr>
                        <a:t>무해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저장 계층 ①만 사라진다. ②(디스크 폴더) 또는 ③(내보내기) 중 하나만 살아 있으면 전부 회수된다.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같은 답안·녹음이 두 번 올라간다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0B6E5F"/>
                          </a:solidFill>
                          <a:latin typeface="Apple SD Gothic Neo"/>
                        </a:rPr>
                        <a:t>무해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(attempt_id, question_id) 에 unique 제약. 녹음은 경로가 같아 덮어쓰기가 된다.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30대가 동시에 올린다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0B6E5F"/>
                          </a:solidFill>
                          <a:latin typeface="Apple SD Gothic Neo"/>
                        </a:rPr>
                        <a:t>무해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총량 75–150 MB, Supabase 입장에서 미미하다. 재시도 지터가 이미 있어 동시 폭주도 흩어진다.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단말 시계가 틀려 있다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8A6410"/>
                          </a:solidFill>
                          <a:latin typeface="Apple SD Gothic Neo"/>
                        </a:rPr>
                        <a:t>주의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제출 순서·시간 판정에 단말 시계를 쓰지 않는다. 내부 타이밍은 단조 시계, 기록 시각은 서버 수신 시각.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녹음 업로드가 3회 실패한다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8A6410"/>
                          </a:solidFill>
                          <a:latin typeface="Apple SD Gothic Neo"/>
                        </a:rPr>
                        <a:t>주의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답안은 이미 안착. 내보내기 파일에 원본이 남아 있으므로 관리자 수동 재업로드로 복구 — 현재 경로 없음.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학생이 로컬 답안을 편집한다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8A6410"/>
                          </a:solidFill>
                          <a:latin typeface="Apple SD Gothic Neo"/>
                        </a:rPr>
                        <a:t>주의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로컬 저장은 원리상 학생이 열어볼 수 있다. 서버 재채점 + 불일치 플래그로 탐지. 정답 키 원본은 번들 금지.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게스트 모드인데 ②·③도 없다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A32E28"/>
                          </a:solidFill>
                          <a:latin typeface="Apple SD Gothic Neo"/>
                        </a:rPr>
                        <a:t>치명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세션 종료 = 전멸. 그래서 계층 ③을 PC 정책과 무관하게 기본으로 넣는다. 타협하지 않는 유일한 항목.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어떤 순서로 만드는가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28800"/>
          <a:ext cx="10789920" cy="3694176"/>
        </p:xfrm>
        <a:graphic>
          <a:graphicData uri="http://schemas.openxmlformats.org/drawingml/2006/table">
            <a:tbl>
              <a:tblPr firstRow="0" bandRow="0"/>
              <a:tblGrid>
                <a:gridCol w="640080"/>
                <a:gridCol w="2834640"/>
                <a:gridCol w="43891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단계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내용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끝나면 가능해지는 것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주로 손대는 곳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내보내기에 녹음 동봉
+ 종료 시 자동 실행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PC 정책이 무엇이든 답안과 녹음이 최소 한 벌은
디스크에 남는다. 가장 싸고 가장 급한 안전망.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exam-sync.js
exportPayload · downloadExport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동기화 경로 단일화
+ 고아 큐 회수 + persist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회선이 열리면 그 PC 에 남은 모든 회차가
녹음까지 자동으로 올라간다.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exam-sync.js 어댑터
exam-store.js 전체 스캔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완료 게이트 + 감독관 현황판
+ 로컬 자동 삭제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회수창이 성립한다. 학생은 완료를 보고 나가고,
PC 에는 아무것도 남지 않는다.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종료 화면
감독관 화면 신규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역할 기반 RLS
+ 교사·관리자 대시보드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선생님이 “30명 중 28명 완료, 2명 녹음 미제출”을
본다. 요구사항 충족 지점.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supabase/schema.sql
대시보드 화면 신규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서버 재채점
+ 미제출 수동 재업로드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성적표가 서버 계산값 위에 서고, 포기된 녹음을
내보내기 파일에서 복구할 수 있다.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채점 파이프라인
관리자 화면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디스크 폴더 저장 (계층 ②)
— 선택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게스트 모드에서도 실시간으로 디스크에 남는다.
1·2순위가 막혔을 때만 착수한다.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시작 화면 폴더 선택
저장 어댑터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" y="5715000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524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54864" bIns="54864"/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F"/>
                </a:solidFill>
                <a:latin typeface="Apple SD Gothic Neo"/>
              </a:rPr>
              <a:t>단계 1 은 다른 무엇을 정하기 전에 먼저 넣어도 되는 유일한 항목 — PC 정책 확인 결과와 무관하게 버려지지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IN PARALLEL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병행해서 확인할 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411480" cy="411480"/>
          </a:xfrm>
          <a:prstGeom prst="roundRect">
            <a:avLst>
              <a:gd name="adj" fmla="val 8000"/>
            </a:avLst>
          </a:prstGeom>
          <a:solidFill>
            <a:srgbClr val="0B6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19293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01715"/>
                </a:solidFill>
                <a:latin typeface="Apple SD Gothic Neo"/>
              </a:rPr>
              <a:t>시험용 PC 가 게스트 모드인가, 예외 프로필이 가능한가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223113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E5A57"/>
                </a:solidFill>
                <a:latin typeface="Apple SD Gothic Neo"/>
              </a:rPr>
              <a:t>가능하면 저장 계층 ②(디스크 폴더)를 만들지 않아도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97480"/>
            <a:ext cx="411480" cy="411480"/>
          </a:xfrm>
          <a:prstGeom prst="roundRect">
            <a:avLst>
              <a:gd name="adj" fmla="val 8000"/>
            </a:avLst>
          </a:prstGeom>
          <a:solidFill>
            <a:srgbClr val="0B6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70662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01715"/>
                </a:solidFill>
                <a:latin typeface="Apple SD Gothic Neo"/>
              </a:rPr>
              <a:t>공유기가 도메인 화이트리스트를 지원하는가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300837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E5A57"/>
                </a:solidFill>
                <a:latin typeface="Apple SD Gothic Neo"/>
              </a:rPr>
              <a:t>지원하면 시험 중 Supabase 만 열어 회수 문제 자체를 없앨 수 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74720"/>
            <a:ext cx="411480" cy="411480"/>
          </a:xfrm>
          <a:prstGeom prst="roundRect">
            <a:avLst>
              <a:gd name="adj" fmla="val 8000"/>
            </a:avLst>
          </a:prstGeom>
          <a:solidFill>
            <a:srgbClr val="0B6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3483863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01715"/>
                </a:solidFill>
                <a:latin typeface="Apple SD Gothic Neo"/>
              </a:rPr>
              <a:t>시험 종료 후 학생을 3분 붙잡아둘 수 있는가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3785615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E5A57"/>
                </a:solidFill>
                <a:latin typeface="Apple SD Gothic Neo"/>
              </a:rPr>
              <a:t>안 되면 회수는 다음 부팅에 의존하게 되고, 답안이 PC 에 남는 시간이 길어진다.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251960"/>
            <a:ext cx="411480" cy="411480"/>
          </a:xfrm>
          <a:prstGeom prst="roundRect">
            <a:avLst>
              <a:gd name="adj" fmla="val 8000"/>
            </a:avLst>
          </a:prstGeom>
          <a:solidFill>
            <a:srgbClr val="0B6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426110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01715"/>
                </a:solidFill>
                <a:latin typeface="Apple SD Gothic Neo"/>
              </a:rPr>
              <a:t>학생 계정을 언제 발급하는가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4562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E5A57"/>
                </a:solidFill>
                <a:latin typeface="Apple SD Gothic Neo"/>
              </a:rPr>
              <a:t>녹음 Storage 경로의 &lt;uid&gt; 가 여기에 걸려 있다. 시험 전날 미리 발급·캐시를 전제로 썼다.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029200"/>
            <a:ext cx="411480" cy="411480"/>
          </a:xfrm>
          <a:prstGeom prst="roundRect">
            <a:avLst>
              <a:gd name="adj" fmla="val 8000"/>
            </a:avLst>
          </a:prstGeom>
          <a:solidFill>
            <a:srgbClr val="0B6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03834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01715"/>
                </a:solidFill>
                <a:latin typeface="Apple SD Gothic Neo"/>
              </a:rPr>
              <a:t>이 저장소의 공개 범위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534009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E5A57"/>
                </a:solidFill>
                <a:latin typeface="Apple SD Gothic Neo"/>
              </a:rPr>
              <a:t>12 슬라이드의 anon 키 건과 직결된다.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852160"/>
            <a:ext cx="10789920" cy="54864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54864" bIns="54864"/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F"/>
                </a:solidFill>
                <a:latin typeface="Apple SD Gothic Neo"/>
              </a:rPr>
              <a:t>확인이 진행되는 동안 단계 1 은 먼저 시작해도 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